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7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71" r:id="rId15"/>
    <p:sldId id="272" r:id="rId16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98" d="100"/>
          <a:sy n="98" d="100"/>
        </p:scale>
        <p:origin x="82" y="91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76419935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6565392"/>
            <a:ext cx="12191695" cy="0"/>
          </a:xfrm>
          <a:prstGeom prst="line">
            <a:avLst/>
          </a:prstGeom>
          <a:noFill/>
          <a:ln w="12700">
            <a:solidFill>
              <a:srgbClr val="DCE4E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6629400"/>
            <a:ext cx="36576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60708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Parcel Routing System</a:t>
            </a:r>
            <a:endParaRPr lang="en-US" sz="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61111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700">
                <a:solidFill>
                  <a:srgbClr val="607089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61111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700">
                <a:solidFill>
                  <a:srgbClr val="607089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1"/>
          <p:cNvSpPr/>
          <p:nvPr/>
        </p:nvSpPr>
        <p:spPr>
          <a:xfrm>
            <a:off x="8092440" y="594360"/>
            <a:ext cx="3474720" cy="73152"/>
          </a:xfrm>
          <a:prstGeom prst="rect">
            <a:avLst/>
          </a:prstGeom>
          <a:solidFill>
            <a:srgbClr val="2C3F5F">
              <a:alpha val="80000"/>
            </a:srgbClr>
          </a:solidFill>
          <a:ln w="12700">
            <a:solidFill>
              <a:srgbClr val="2C3F5F">
                <a:alpha val="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85800" y="1188720"/>
            <a:ext cx="55778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200" b="1" dirty="0"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Parcel Routing</a:t>
            </a:r>
            <a:endParaRPr lang="en-US" sz="4200" dirty="0"/>
          </a:p>
          <a:p>
            <a:pPr marL="0" indent="0">
              <a:buNone/>
            </a:pPr>
            <a:r>
              <a:rPr lang="en-US" sz="4200" b="1" dirty="0"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System</a:t>
            </a:r>
            <a:endParaRPr lang="en-US" sz="4200" dirty="0"/>
          </a:p>
        </p:txBody>
      </p:sp>
      <p:sp>
        <p:nvSpPr>
          <p:cNvPr id="6" name="Text 4"/>
          <p:cNvSpPr/>
          <p:nvPr/>
        </p:nvSpPr>
        <p:spPr>
          <a:xfrm>
            <a:off x="713232" y="2788920"/>
            <a:ext cx="56692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600" dirty="0"/>
              <a:t>Minimal FastAPI application for configurable parcel routing, JSON batch upload, and regression-tested business rules.</a:t>
            </a:r>
          </a:p>
        </p:txBody>
      </p:sp>
      <p:sp>
        <p:nvSpPr>
          <p:cNvPr id="9" name="Shape 7"/>
          <p:cNvSpPr/>
          <p:nvPr/>
        </p:nvSpPr>
        <p:spPr>
          <a:xfrm>
            <a:off x="1540764" y="3703320"/>
            <a:ext cx="2148840" cy="310896"/>
          </a:xfrm>
          <a:prstGeom prst="roundRect">
            <a:avLst>
              <a:gd name="adj" fmla="val 23529"/>
            </a:avLst>
          </a:prstGeom>
          <a:solidFill>
            <a:srgbClr val="D9E8FF"/>
          </a:solidFill>
          <a:ln w="12700">
            <a:solidFill>
              <a:srgbClr val="D9E8F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540764" y="3793744"/>
            <a:ext cx="200253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132238"/>
                </a:solidFill>
              </a:rPr>
              <a:t>FastAPI + JSON + Pytest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6812280" y="1417320"/>
            <a:ext cx="1463040" cy="1005840"/>
          </a:xfrm>
          <a:prstGeom prst="roundRect">
            <a:avLst>
              <a:gd name="adj" fmla="val 6364"/>
            </a:avLst>
          </a:prstGeom>
          <a:solidFill>
            <a:srgbClr val="EAF1FF"/>
          </a:solidFill>
          <a:ln w="12700">
            <a:solidFill>
              <a:srgbClr val="93B9F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876288" y="1527048"/>
            <a:ext cx="1335024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B2430"/>
                </a:solidFill>
              </a:rPr>
              <a:t>Parcel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b="1" dirty="0">
                <a:solidFill>
                  <a:srgbClr val="1B2430"/>
                </a:solidFill>
              </a:rPr>
              <a:t>Input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9372600" y="1417320"/>
            <a:ext cx="1554480" cy="1005840"/>
          </a:xfrm>
          <a:prstGeom prst="roundRect">
            <a:avLst>
              <a:gd name="adj" fmla="val 6364"/>
            </a:avLst>
          </a:prstGeom>
          <a:solidFill>
            <a:srgbClr val="FFF2E7"/>
          </a:solidFill>
          <a:ln w="12700">
            <a:solidFill>
              <a:srgbClr val="F7B475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9436608" y="1527048"/>
            <a:ext cx="1426464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B2430"/>
                </a:solidFill>
              </a:rPr>
              <a:t>Rules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b="1" dirty="0">
                <a:solidFill>
                  <a:srgbClr val="1B2430"/>
                </a:solidFill>
              </a:rPr>
              <a:t>Engine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6812280" y="3246120"/>
            <a:ext cx="1645920" cy="1005840"/>
          </a:xfrm>
          <a:prstGeom prst="roundRect">
            <a:avLst>
              <a:gd name="adj" fmla="val 6364"/>
            </a:avLst>
          </a:prstGeom>
          <a:solidFill>
            <a:srgbClr val="EAF7EF"/>
          </a:solidFill>
          <a:ln w="12700">
            <a:solidFill>
              <a:srgbClr val="8ED5A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876288" y="3355848"/>
            <a:ext cx="1517904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B2430"/>
                </a:solidFill>
              </a:rPr>
              <a:t>Validation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b="1" dirty="0">
                <a:solidFill>
                  <a:srgbClr val="1B2430"/>
                </a:solidFill>
              </a:rPr>
              <a:t>&amp; Tests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9281160" y="3259836"/>
            <a:ext cx="1783080" cy="1005840"/>
          </a:xfrm>
          <a:prstGeom prst="roundRect">
            <a:avLst>
              <a:gd name="adj" fmla="val 6364"/>
            </a:avLst>
          </a:prstGeom>
          <a:solidFill>
            <a:srgbClr val="F2EAFE"/>
          </a:solidFill>
          <a:ln w="12700">
            <a:solidFill>
              <a:srgbClr val="BC9BF7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9553956" y="3343921"/>
            <a:ext cx="1237488" cy="798709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B2430"/>
                </a:solidFill>
              </a:rPr>
              <a:t>Routing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b="1" dirty="0">
                <a:solidFill>
                  <a:srgbClr val="1B2430"/>
                </a:solidFill>
              </a:rPr>
              <a:t>Decision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61111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700">
                <a:solidFill>
                  <a:srgbClr val="607089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lang="en-US" b="0"/>
              <a:t>1</a:t>
            </a:fld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7955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B243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Assessment Goal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566928" y="786384"/>
            <a:ext cx="7589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36172"/>
                </a:solidFill>
              </a:rPr>
              <a:t>What the system is expected to prove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94360" y="1234440"/>
            <a:ext cx="2194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2563EB"/>
                </a:solidFill>
              </a:rPr>
              <a:t>CORE IDEA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594360" y="1517904"/>
            <a:ext cx="5577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100" b="1" dirty="0">
                <a:solidFill>
                  <a:srgbClr val="1B2430"/>
                </a:solidFill>
              </a:rPr>
              <a:t>Route parcels correctly, while keeping business rules easy to change and safe to test.</a:t>
            </a:r>
            <a:endParaRPr lang="en-US" sz="2100" dirty="0"/>
          </a:p>
        </p:txBody>
      </p:sp>
      <p:sp>
        <p:nvSpPr>
          <p:cNvPr id="7" name="Shape 5"/>
          <p:cNvSpPr/>
          <p:nvPr/>
        </p:nvSpPr>
        <p:spPr>
          <a:xfrm>
            <a:off x="640080" y="2423160"/>
            <a:ext cx="73152" cy="114300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41248" y="2587752"/>
            <a:ext cx="2880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B2430"/>
                </a:solidFill>
              </a:rPr>
              <a:t>Business rules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841248" y="2935224"/>
            <a:ext cx="2898648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536172"/>
                </a:solidFill>
              </a:rPr>
              <a:t>Weight determines department. Value over €1,000 requires Insurance Approval.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4251960" y="2423160"/>
            <a:ext cx="73152" cy="1143000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453128" y="2587752"/>
            <a:ext cx="2880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B2430"/>
                </a:solidFill>
              </a:rPr>
              <a:t>Operator interface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4453128" y="2935224"/>
            <a:ext cx="2898648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536172"/>
                </a:solidFill>
              </a:rPr>
              <a:t>Manual entry plus JSON batch upload with clear outcomes and validation errors.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7863840" y="2423160"/>
            <a:ext cx="73152" cy="1143000"/>
          </a:xfrm>
          <a:prstGeom prst="rect">
            <a:avLst/>
          </a:prstGeom>
          <a:solidFill>
            <a:srgbClr val="EA7A1A"/>
          </a:solidFill>
          <a:ln w="12700">
            <a:solidFill>
              <a:srgbClr val="EA7A1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065008" y="2587752"/>
            <a:ext cx="2880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B2430"/>
                </a:solidFill>
              </a:rPr>
              <a:t>Engineering discipline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8065008" y="2935224"/>
            <a:ext cx="2898648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536172"/>
                </a:solidFill>
              </a:rPr>
              <a:t>Tests, config validation, clear project structure, and simple public-facing safeguards.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841248" y="5084064"/>
            <a:ext cx="9601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/>
              <a:t>Built as a minimal, explainable system rather than an over-engineered platform.</a:t>
            </a:r>
            <a:endParaRPr lang="en-US" sz="1800" dirty="0"/>
          </a:p>
        </p:txBody>
      </p:sp>
      <p:sp>
        <p:nvSpPr>
          <p:cNvPr id="20" name="Shape 18"/>
          <p:cNvSpPr/>
          <p:nvPr/>
        </p:nvSpPr>
        <p:spPr>
          <a:xfrm>
            <a:off x="2194560" y="5577840"/>
            <a:ext cx="1188720" cy="310896"/>
          </a:xfrm>
          <a:prstGeom prst="roundRect">
            <a:avLst>
              <a:gd name="adj" fmla="val 23529"/>
            </a:avLst>
          </a:prstGeom>
          <a:solidFill>
            <a:srgbClr val="EAF1FF"/>
          </a:solidFill>
          <a:ln w="12700">
            <a:solidFill>
              <a:srgbClr val="EAF1FF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2267712" y="5650992"/>
            <a:ext cx="104241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2563EB"/>
                </a:solidFill>
              </a:rPr>
              <a:t>Adaptable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3840480" y="5577840"/>
            <a:ext cx="1097280" cy="310896"/>
          </a:xfrm>
          <a:prstGeom prst="roundRect">
            <a:avLst>
              <a:gd name="adj" fmla="val 23529"/>
            </a:avLst>
          </a:prstGeom>
          <a:solidFill>
            <a:srgbClr val="EAF7EF"/>
          </a:solidFill>
          <a:ln w="12700">
            <a:solidFill>
              <a:srgbClr val="EAF7EF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913632" y="5650992"/>
            <a:ext cx="95097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16A34A"/>
                </a:solidFill>
              </a:rPr>
              <a:t>Testable</a:t>
            </a:r>
            <a:endParaRPr lang="en-US" sz="850" dirty="0"/>
          </a:p>
        </p:txBody>
      </p:sp>
      <p:sp>
        <p:nvSpPr>
          <p:cNvPr id="24" name="Shape 22"/>
          <p:cNvSpPr/>
          <p:nvPr/>
        </p:nvSpPr>
        <p:spPr>
          <a:xfrm>
            <a:off x="5394960" y="5577840"/>
            <a:ext cx="1097280" cy="310896"/>
          </a:xfrm>
          <a:prstGeom prst="roundRect">
            <a:avLst>
              <a:gd name="adj" fmla="val 23529"/>
            </a:avLst>
          </a:prstGeom>
          <a:solidFill>
            <a:srgbClr val="FFF2E7"/>
          </a:solidFill>
          <a:ln w="12700">
            <a:solidFill>
              <a:srgbClr val="FFF2E7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468112" y="5650992"/>
            <a:ext cx="95097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EA7A1A"/>
                </a:solidFill>
              </a:rPr>
              <a:t>Readable</a:t>
            </a:r>
            <a:endParaRPr lang="en-US" sz="850" dirty="0"/>
          </a:p>
        </p:txBody>
      </p:sp>
      <p:sp>
        <p:nvSpPr>
          <p:cNvPr id="26" name="Shape 24"/>
          <p:cNvSpPr/>
          <p:nvPr/>
        </p:nvSpPr>
        <p:spPr>
          <a:xfrm>
            <a:off x="6949440" y="5577840"/>
            <a:ext cx="1508760" cy="310896"/>
          </a:xfrm>
          <a:prstGeom prst="roundRect">
            <a:avLst>
              <a:gd name="adj" fmla="val 23529"/>
            </a:avLst>
          </a:prstGeom>
          <a:solidFill>
            <a:srgbClr val="F2EAFE"/>
          </a:solidFill>
          <a:ln w="12700">
            <a:solidFill>
              <a:srgbClr val="F2EAFE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7022592" y="5650992"/>
            <a:ext cx="136245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7C3AED"/>
                </a:solidFill>
              </a:rPr>
              <a:t>Safe to change</a:t>
            </a:r>
            <a:endParaRPr lang="en-US" sz="850" dirty="0"/>
          </a:p>
        </p:txBody>
      </p:sp>
      <p:sp>
        <p:nvSpPr>
          <p:cNvPr id="28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61111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700">
                <a:solidFill>
                  <a:srgbClr val="607089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lang="en-US" b="0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7955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B243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Scope Chosen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566928" y="786384"/>
            <a:ext cx="7589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36172"/>
                </a:solidFill>
              </a:rPr>
              <a:t>Deliberately small, but complete enough for the assessment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1554480" y="2971800"/>
            <a:ext cx="2651760" cy="0"/>
          </a:xfrm>
          <a:prstGeom prst="line">
            <a:avLst/>
          </a:prstGeom>
          <a:noFill/>
          <a:ln w="19050">
            <a:solidFill>
              <a:srgbClr val="AAB7C7"/>
            </a:solidFill>
            <a:prstDash val="solid"/>
            <a:headEnd type="none"/>
            <a:tailEnd type="triangle"/>
          </a:ln>
        </p:spPr>
      </p:sp>
      <p:sp>
        <p:nvSpPr>
          <p:cNvPr id="5" name="Shape 3"/>
          <p:cNvSpPr/>
          <p:nvPr/>
        </p:nvSpPr>
        <p:spPr>
          <a:xfrm>
            <a:off x="4572000" y="2971800"/>
            <a:ext cx="2651760" cy="0"/>
          </a:xfrm>
          <a:prstGeom prst="line">
            <a:avLst/>
          </a:prstGeom>
          <a:noFill/>
          <a:ln w="19050">
            <a:solidFill>
              <a:srgbClr val="AAB7C7"/>
            </a:solidFill>
            <a:prstDash val="solid"/>
            <a:headEnd type="none"/>
            <a:tailEnd type="triangle"/>
          </a:ln>
        </p:spPr>
      </p:sp>
      <p:sp>
        <p:nvSpPr>
          <p:cNvPr id="6" name="Shape 4"/>
          <p:cNvSpPr/>
          <p:nvPr/>
        </p:nvSpPr>
        <p:spPr>
          <a:xfrm>
            <a:off x="7589520" y="2971800"/>
            <a:ext cx="2651760" cy="0"/>
          </a:xfrm>
          <a:prstGeom prst="line">
            <a:avLst/>
          </a:prstGeom>
          <a:noFill/>
          <a:ln w="19050">
            <a:solidFill>
              <a:srgbClr val="AAB7C7"/>
            </a:solidFill>
            <a:prstDash val="solid"/>
            <a:headEnd type="none"/>
            <a:tailEnd type="triangle"/>
          </a:ln>
        </p:spPr>
      </p:sp>
      <p:sp>
        <p:nvSpPr>
          <p:cNvPr id="7" name="Shape 5"/>
          <p:cNvSpPr/>
          <p:nvPr/>
        </p:nvSpPr>
        <p:spPr>
          <a:xfrm>
            <a:off x="640080" y="2331720"/>
            <a:ext cx="1737360" cy="1234440"/>
          </a:xfrm>
          <a:prstGeom prst="roundRect">
            <a:avLst>
              <a:gd name="adj" fmla="val 5185"/>
            </a:avLst>
          </a:prstGeom>
          <a:solidFill>
            <a:srgbClr val="EAF1FF"/>
          </a:solidFill>
          <a:ln w="12700">
            <a:solidFill>
              <a:srgbClr val="93B9F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04088" y="2441448"/>
            <a:ext cx="1609344" cy="10332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B2430"/>
                </a:solidFill>
              </a:rPr>
              <a:t>Input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b="1" dirty="0">
                <a:solidFill>
                  <a:srgbClr val="1B2430"/>
                </a:solidFill>
              </a:rPr>
              <a:t>Manual / JSON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3383280" y="2331720"/>
            <a:ext cx="1737360" cy="1234440"/>
          </a:xfrm>
          <a:prstGeom prst="roundRect">
            <a:avLst>
              <a:gd name="adj" fmla="val 5185"/>
            </a:avLst>
          </a:prstGeom>
          <a:solidFill>
            <a:srgbClr val="EAF7EF"/>
          </a:solidFill>
          <a:ln w="12700">
            <a:solidFill>
              <a:srgbClr val="8ED5A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447288" y="2441448"/>
            <a:ext cx="1609344" cy="10332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B2430"/>
                </a:solidFill>
              </a:rPr>
              <a:t>Validate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b="1" dirty="0">
                <a:solidFill>
                  <a:srgbClr val="1B2430"/>
                </a:solidFill>
              </a:rPr>
              <a:t>Pydantic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6126480" y="2331720"/>
            <a:ext cx="1828800" cy="1234440"/>
          </a:xfrm>
          <a:prstGeom prst="roundRect">
            <a:avLst>
              <a:gd name="adj" fmla="val 5185"/>
            </a:avLst>
          </a:prstGeom>
          <a:solidFill>
            <a:srgbClr val="FFF2E7"/>
          </a:solidFill>
          <a:ln w="12700">
            <a:solidFill>
              <a:srgbClr val="F7B475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190488" y="2441448"/>
            <a:ext cx="1700784" cy="10332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B2430"/>
                </a:solidFill>
              </a:rPr>
              <a:t>Route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b="1" dirty="0">
                <a:solidFill>
                  <a:srgbClr val="1B2430"/>
                </a:solidFill>
              </a:rPr>
              <a:t>Config Rules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8961120" y="2331720"/>
            <a:ext cx="1828800" cy="1234440"/>
          </a:xfrm>
          <a:prstGeom prst="roundRect">
            <a:avLst>
              <a:gd name="adj" fmla="val 5185"/>
            </a:avLst>
          </a:prstGeom>
          <a:solidFill>
            <a:srgbClr val="F2EAFE"/>
          </a:solidFill>
          <a:ln w="12700">
            <a:solidFill>
              <a:srgbClr val="BC9BF7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9025128" y="2441448"/>
            <a:ext cx="1700784" cy="10332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B2430"/>
                </a:solidFill>
              </a:rPr>
              <a:t>Return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b="1" dirty="0">
                <a:solidFill>
                  <a:srgbClr val="1B2430"/>
                </a:solidFill>
              </a:rPr>
              <a:t>Decision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731520" y="4297680"/>
            <a:ext cx="2194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2563EB"/>
                </a:solidFill>
              </a:rPr>
              <a:t>KEPT IN</a:t>
            </a:r>
            <a:endParaRPr lang="en-US" sz="850" dirty="0"/>
          </a:p>
        </p:txBody>
      </p:sp>
      <p:sp>
        <p:nvSpPr>
          <p:cNvPr id="16" name="Text 14"/>
          <p:cNvSpPr/>
          <p:nvPr/>
        </p:nvSpPr>
        <p:spPr>
          <a:xfrm>
            <a:off x="777240" y="4590288"/>
            <a:ext cx="4480560" cy="11887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1300" dirty="0">
                <a:solidFill>
                  <a:srgbClr val="1B2430"/>
                </a:solidFill>
              </a:rPr>
              <a:t>• FastAPI backend
• Simple HTML/CSS/JS UI
• Configurable routing rules
• Core tests and README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6217920" y="4297680"/>
            <a:ext cx="2194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2563EB"/>
                </a:solidFill>
              </a:rPr>
              <a:t>REMOVED FOR MINIMALITY</a:t>
            </a:r>
            <a:endParaRPr lang="en-US" sz="850" dirty="0"/>
          </a:p>
        </p:txBody>
      </p:sp>
      <p:sp>
        <p:nvSpPr>
          <p:cNvPr id="18" name="Text 16"/>
          <p:cNvSpPr/>
          <p:nvPr/>
        </p:nvSpPr>
        <p:spPr>
          <a:xfrm>
            <a:off x="6263640" y="4590288"/>
            <a:ext cx="4754880" cy="11887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1300" dirty="0">
                <a:solidFill>
                  <a:srgbClr val="1B2430"/>
                </a:solidFill>
              </a:rPr>
              <a:t>• Docker
• Custom rate limiter
• Advanced security middleware
• Extra customs rule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61111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700">
                <a:solidFill>
                  <a:srgbClr val="607089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lang="en-US" b="0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7955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B243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Project Structure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841248" y="1380744"/>
            <a:ext cx="5440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/>
              <a:t>Folder layout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841248" y="2488888"/>
            <a:ext cx="5404104" cy="27706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r>
              <a:rPr lang="en-IN" sz="1400" b="0" dirty="0">
                <a:effectLst/>
                <a:latin typeface="Consolas" panose="020B0609020204030204" pitchFamily="49" charset="0"/>
              </a:rPr>
              <a:t>parcel-routing-minimal/</a:t>
            </a:r>
          </a:p>
          <a:p>
            <a:r>
              <a:rPr lang="en-IN" sz="1400" b="0" dirty="0">
                <a:effectLst/>
                <a:latin typeface="Consolas" panose="020B0609020204030204" pitchFamily="49" charset="0"/>
              </a:rPr>
              <a:t>├── app/</a:t>
            </a:r>
          </a:p>
          <a:p>
            <a:r>
              <a:rPr lang="en-IN" sz="1400" b="0" dirty="0">
                <a:effectLst/>
                <a:latin typeface="Consolas" panose="020B0609020204030204" pitchFamily="49" charset="0"/>
              </a:rPr>
              <a:t>│   ├── main.py</a:t>
            </a:r>
          </a:p>
          <a:p>
            <a:r>
              <a:rPr lang="en-IN" sz="1400" b="0" dirty="0">
                <a:effectLst/>
                <a:latin typeface="Consolas" panose="020B0609020204030204" pitchFamily="49" charset="0"/>
              </a:rPr>
              <a:t>│   ├── models.py</a:t>
            </a:r>
          </a:p>
          <a:p>
            <a:r>
              <a:rPr lang="en-IN" sz="1400" b="0" dirty="0">
                <a:effectLst/>
                <a:latin typeface="Consolas" panose="020B0609020204030204" pitchFamily="49" charset="0"/>
              </a:rPr>
              <a:t>│   ├── router.py</a:t>
            </a:r>
          </a:p>
          <a:p>
            <a:r>
              <a:rPr lang="en-IN" sz="1400" b="0" dirty="0">
                <a:effectLst/>
                <a:latin typeface="Consolas" panose="020B0609020204030204" pitchFamily="49" charset="0"/>
              </a:rPr>
              <a:t>│   ├── config_loader.py</a:t>
            </a:r>
          </a:p>
          <a:p>
            <a:r>
              <a:rPr lang="en-IN" sz="1400" b="0" dirty="0">
                <a:effectLst/>
                <a:latin typeface="Consolas" panose="020B0609020204030204" pitchFamily="49" charset="0"/>
              </a:rPr>
              <a:t>│   ├── </a:t>
            </a:r>
            <a:r>
              <a:rPr lang="en-IN" sz="1400" b="0" dirty="0" err="1">
                <a:effectLst/>
                <a:latin typeface="Consolas" panose="020B0609020204030204" pitchFamily="49" charset="0"/>
              </a:rPr>
              <a:t>routing_rules.json</a:t>
            </a:r>
            <a:endParaRPr lang="en-IN" sz="1400" b="0" dirty="0">
              <a:effectLst/>
              <a:latin typeface="Consolas" panose="020B0609020204030204" pitchFamily="49" charset="0"/>
            </a:endParaRPr>
          </a:p>
          <a:p>
            <a:r>
              <a:rPr lang="en-IN" sz="1400" b="0" dirty="0">
                <a:effectLst/>
                <a:latin typeface="Consolas" panose="020B0609020204030204" pitchFamily="49" charset="0"/>
              </a:rPr>
              <a:t>│   └── static/</a:t>
            </a:r>
          </a:p>
          <a:p>
            <a:r>
              <a:rPr lang="en-IN" sz="1400" b="0" dirty="0">
                <a:effectLst/>
                <a:latin typeface="Consolas" panose="020B0609020204030204" pitchFamily="49" charset="0"/>
              </a:rPr>
              <a:t>│       ├── index.html</a:t>
            </a:r>
          </a:p>
          <a:p>
            <a:r>
              <a:rPr lang="en-IN" sz="1400" b="0" dirty="0">
                <a:effectLst/>
                <a:latin typeface="Consolas" panose="020B0609020204030204" pitchFamily="49" charset="0"/>
              </a:rPr>
              <a:t>│       ├── styles.css</a:t>
            </a:r>
          </a:p>
          <a:p>
            <a:r>
              <a:rPr lang="en-IN" sz="1400" b="0" dirty="0">
                <a:effectLst/>
                <a:latin typeface="Consolas" panose="020B0609020204030204" pitchFamily="49" charset="0"/>
              </a:rPr>
              <a:t>│       └── script.js</a:t>
            </a:r>
          </a:p>
          <a:p>
            <a:r>
              <a:rPr lang="en-IN" sz="1400" b="0" dirty="0">
                <a:effectLst/>
                <a:latin typeface="Consolas" panose="020B0609020204030204" pitchFamily="49" charset="0"/>
              </a:rPr>
              <a:t>├── tests/</a:t>
            </a:r>
          </a:p>
          <a:p>
            <a:r>
              <a:rPr lang="en-IN" sz="1400" b="0" dirty="0">
                <a:effectLst/>
                <a:latin typeface="Consolas" panose="020B0609020204030204" pitchFamily="49" charset="0"/>
              </a:rPr>
              <a:t>│   ├── test_routing.py</a:t>
            </a:r>
          </a:p>
          <a:p>
            <a:r>
              <a:rPr lang="en-IN" sz="1400" b="0" dirty="0">
                <a:effectLst/>
                <a:latin typeface="Consolas" panose="020B0609020204030204" pitchFamily="49" charset="0"/>
              </a:rPr>
              <a:t>│   └── test_api.py</a:t>
            </a:r>
          </a:p>
          <a:p>
            <a:r>
              <a:rPr lang="en-IN" sz="1400" b="0" dirty="0">
                <a:effectLst/>
                <a:latin typeface="Consolas" panose="020B0609020204030204" pitchFamily="49" charset="0"/>
              </a:rPr>
              <a:t>├── requirements.txt</a:t>
            </a:r>
          </a:p>
          <a:p>
            <a:r>
              <a:rPr lang="en-IN" sz="1400" b="0" dirty="0">
                <a:effectLst/>
                <a:latin typeface="Consolas" panose="020B0609020204030204" pitchFamily="49" charset="0"/>
              </a:rPr>
              <a:t>├── </a:t>
            </a:r>
            <a:r>
              <a:rPr lang="en-IN" sz="1400" b="0" dirty="0" err="1">
                <a:effectLst/>
                <a:latin typeface="Consolas" panose="020B0609020204030204" pitchFamily="49" charset="0"/>
              </a:rPr>
              <a:t>sample_parcels.json</a:t>
            </a:r>
            <a:endParaRPr lang="en-IN" sz="1400" b="0" dirty="0">
              <a:effectLst/>
              <a:latin typeface="Consolas" panose="020B0609020204030204" pitchFamily="49" charset="0"/>
            </a:endParaRPr>
          </a:p>
          <a:p>
            <a:r>
              <a:rPr lang="en-IN" sz="1400" b="0" dirty="0">
                <a:effectLst/>
                <a:latin typeface="Consolas" panose="020B0609020204030204" pitchFamily="49" charset="0"/>
              </a:rPr>
              <a:t>├── README.me</a:t>
            </a:r>
          </a:p>
          <a:p>
            <a:r>
              <a:rPr lang="en-IN" sz="1400" b="0" dirty="0">
                <a:effectLst/>
                <a:latin typeface="Consolas" panose="020B0609020204030204" pitchFamily="49" charset="0"/>
              </a:rPr>
              <a:t>└── Presentation.pptx</a:t>
            </a:r>
          </a:p>
          <a:p>
            <a:endParaRPr lang="en-IN" sz="1400" b="0" dirty="0">
              <a:effectLst/>
              <a:latin typeface="Consolas" panose="020B0609020204030204" pitchFamily="49" charset="0"/>
            </a:endParaRPr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61111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700">
                <a:solidFill>
                  <a:srgbClr val="607089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lang="en-US" b="0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7955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B243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Routing Rules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566928" y="786384"/>
            <a:ext cx="7589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36172"/>
                </a:solidFill>
              </a:rPr>
              <a:t>Configuration drives the business behavior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762000" y="1280160"/>
            <a:ext cx="4800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/>
              <a:t>app/routing_rules.json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762000" y="2167870"/>
            <a:ext cx="4764024" cy="1362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n-US" sz="1400" dirty="0">
                <a:latin typeface="Consolas" pitchFamily="34" charset="0"/>
                <a:ea typeface="Consolas" pitchFamily="34" charset="-122"/>
                <a:cs typeface="Consolas" pitchFamily="34" charset="-120"/>
              </a:rPr>
              <a:t>{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latin typeface="Consolas" pitchFamily="34" charset="0"/>
                <a:ea typeface="Consolas" pitchFamily="34" charset="-122"/>
                <a:cs typeface="Consolas" pitchFamily="34" charset="-120"/>
              </a:rPr>
              <a:t>  "rule_version": "v1.0",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latin typeface="Consolas" pitchFamily="34" charset="0"/>
                <a:ea typeface="Consolas" pitchFamily="34" charset="-122"/>
                <a:cs typeface="Consolas" pitchFamily="34" charset="-120"/>
              </a:rPr>
              <a:t>  "insurance_threshold": 1000,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latin typeface="Consolas" pitchFamily="34" charset="0"/>
                <a:ea typeface="Consolas" pitchFamily="34" charset="-122"/>
                <a:cs typeface="Consolas" pitchFamily="34" charset="-120"/>
              </a:rPr>
              <a:t>  "weight_rules": [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latin typeface="Consolas" pitchFamily="34" charset="0"/>
                <a:ea typeface="Consolas" pitchFamily="34" charset="-122"/>
                <a:cs typeface="Consolas" pitchFamily="34" charset="-120"/>
              </a:rPr>
              <a:t>    { "max_weight": 1,  "department": "Mail Department" },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latin typeface="Consolas" pitchFamily="34" charset="0"/>
                <a:ea typeface="Consolas" pitchFamily="34" charset="-122"/>
                <a:cs typeface="Consolas" pitchFamily="34" charset="-120"/>
              </a:rPr>
              <a:t>    { "max_weight": 10, "department": "Regular Department" },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latin typeface="Consolas" pitchFamily="34" charset="0"/>
                <a:ea typeface="Consolas" pitchFamily="34" charset="-122"/>
                <a:cs typeface="Consolas" pitchFamily="34" charset="-120"/>
              </a:rPr>
              <a:t>    { "max_weight": null, "department": "Heavy Department" }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latin typeface="Consolas" pitchFamily="34" charset="0"/>
                <a:ea typeface="Consolas" pitchFamily="34" charset="-122"/>
                <a:cs typeface="Consolas" pitchFamily="34" charset="-120"/>
              </a:rPr>
              <a:t>  ]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6446520" y="1325880"/>
            <a:ext cx="2108395" cy="457200"/>
          </a:xfrm>
          <a:prstGeom prst="rect">
            <a:avLst/>
          </a:prstGeom>
          <a:solidFill>
            <a:srgbClr val="132238"/>
          </a:solidFill>
          <a:ln w="6350">
            <a:solidFill>
              <a:srgbClr val="DCE4E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519672" y="1408176"/>
            <a:ext cx="1962091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50" b="1" dirty="0">
                <a:solidFill>
                  <a:srgbClr val="FFFFFF"/>
                </a:solidFill>
              </a:rPr>
              <a:t>Condition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8554915" y="1325880"/>
            <a:ext cx="2875085" cy="457200"/>
          </a:xfrm>
          <a:prstGeom prst="rect">
            <a:avLst/>
          </a:prstGeom>
          <a:solidFill>
            <a:srgbClr val="132238"/>
          </a:solidFill>
          <a:ln w="6350">
            <a:solidFill>
              <a:srgbClr val="DCE4E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628067" y="1408176"/>
            <a:ext cx="2728781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50" b="1" dirty="0">
                <a:solidFill>
                  <a:srgbClr val="FFFFFF"/>
                </a:solidFill>
              </a:rPr>
              <a:t>Output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6446520" y="1783080"/>
            <a:ext cx="2108395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DCE4E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519672" y="1865376"/>
            <a:ext cx="1962091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20" dirty="0">
                <a:solidFill>
                  <a:srgbClr val="1B2430"/>
                </a:solidFill>
              </a:rPr>
              <a:t>Weight ≤ 1 kg</a:t>
            </a:r>
            <a:endParaRPr lang="en-US" sz="920" dirty="0"/>
          </a:p>
        </p:txBody>
      </p:sp>
      <p:sp>
        <p:nvSpPr>
          <p:cNvPr id="13" name="Shape 11"/>
          <p:cNvSpPr/>
          <p:nvPr/>
        </p:nvSpPr>
        <p:spPr>
          <a:xfrm>
            <a:off x="8554915" y="1783080"/>
            <a:ext cx="2875085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DCE4E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628067" y="1865376"/>
            <a:ext cx="2728781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20" dirty="0">
                <a:solidFill>
                  <a:srgbClr val="1B2430"/>
                </a:solidFill>
              </a:rPr>
              <a:t>Mail Department</a:t>
            </a:r>
            <a:endParaRPr lang="en-US" sz="920" dirty="0"/>
          </a:p>
        </p:txBody>
      </p:sp>
      <p:sp>
        <p:nvSpPr>
          <p:cNvPr id="15" name="Shape 13"/>
          <p:cNvSpPr/>
          <p:nvPr/>
        </p:nvSpPr>
        <p:spPr>
          <a:xfrm>
            <a:off x="6446520" y="2240280"/>
            <a:ext cx="2108395" cy="457200"/>
          </a:xfrm>
          <a:prstGeom prst="rect">
            <a:avLst/>
          </a:prstGeom>
          <a:solidFill>
            <a:srgbClr val="F4F7FB"/>
          </a:solidFill>
          <a:ln w="6350">
            <a:solidFill>
              <a:srgbClr val="DCE4EF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519672" y="2322576"/>
            <a:ext cx="1962091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20" dirty="0">
                <a:solidFill>
                  <a:srgbClr val="1B2430"/>
                </a:solidFill>
              </a:rPr>
              <a:t>Weight ≤ 10 kg</a:t>
            </a:r>
            <a:endParaRPr lang="en-US" sz="920" dirty="0"/>
          </a:p>
        </p:txBody>
      </p:sp>
      <p:sp>
        <p:nvSpPr>
          <p:cNvPr id="17" name="Shape 15"/>
          <p:cNvSpPr/>
          <p:nvPr/>
        </p:nvSpPr>
        <p:spPr>
          <a:xfrm>
            <a:off x="8554915" y="2240280"/>
            <a:ext cx="2875085" cy="457200"/>
          </a:xfrm>
          <a:prstGeom prst="rect">
            <a:avLst/>
          </a:prstGeom>
          <a:solidFill>
            <a:srgbClr val="F4F7FB"/>
          </a:solidFill>
          <a:ln w="6350">
            <a:solidFill>
              <a:srgbClr val="DCE4EF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628067" y="2322576"/>
            <a:ext cx="2728781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20" dirty="0">
                <a:solidFill>
                  <a:srgbClr val="1B2430"/>
                </a:solidFill>
              </a:rPr>
              <a:t>Regular Department</a:t>
            </a:r>
            <a:endParaRPr lang="en-US" sz="920" dirty="0"/>
          </a:p>
        </p:txBody>
      </p:sp>
      <p:sp>
        <p:nvSpPr>
          <p:cNvPr id="19" name="Shape 17"/>
          <p:cNvSpPr/>
          <p:nvPr/>
        </p:nvSpPr>
        <p:spPr>
          <a:xfrm>
            <a:off x="6446520" y="2697480"/>
            <a:ext cx="2108395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DCE4E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519672" y="2779776"/>
            <a:ext cx="1962091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20" dirty="0">
                <a:solidFill>
                  <a:srgbClr val="1B2430"/>
                </a:solidFill>
              </a:rPr>
              <a:t>Weight &gt; 10 kg</a:t>
            </a:r>
            <a:endParaRPr lang="en-US" sz="920" dirty="0"/>
          </a:p>
        </p:txBody>
      </p:sp>
      <p:sp>
        <p:nvSpPr>
          <p:cNvPr id="21" name="Shape 19"/>
          <p:cNvSpPr/>
          <p:nvPr/>
        </p:nvSpPr>
        <p:spPr>
          <a:xfrm>
            <a:off x="8554915" y="2697480"/>
            <a:ext cx="2875085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DCE4EF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8628067" y="2779776"/>
            <a:ext cx="2728781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20" dirty="0">
                <a:solidFill>
                  <a:srgbClr val="1B2430"/>
                </a:solidFill>
              </a:rPr>
              <a:t>Heavy Department</a:t>
            </a:r>
            <a:endParaRPr lang="en-US" sz="920" dirty="0"/>
          </a:p>
        </p:txBody>
      </p:sp>
      <p:sp>
        <p:nvSpPr>
          <p:cNvPr id="23" name="Shape 21"/>
          <p:cNvSpPr/>
          <p:nvPr/>
        </p:nvSpPr>
        <p:spPr>
          <a:xfrm>
            <a:off x="6446520" y="3154680"/>
            <a:ext cx="2108395" cy="457200"/>
          </a:xfrm>
          <a:prstGeom prst="rect">
            <a:avLst/>
          </a:prstGeom>
          <a:solidFill>
            <a:srgbClr val="F4F7FB"/>
          </a:solidFill>
          <a:ln w="6350">
            <a:solidFill>
              <a:srgbClr val="DCE4EF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519672" y="3236976"/>
            <a:ext cx="1962091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20" dirty="0">
                <a:solidFill>
                  <a:srgbClr val="1B2430"/>
                </a:solidFill>
              </a:rPr>
              <a:t>Value &gt; €1,000</a:t>
            </a:r>
            <a:endParaRPr lang="en-US" sz="920" dirty="0"/>
          </a:p>
        </p:txBody>
      </p:sp>
      <p:sp>
        <p:nvSpPr>
          <p:cNvPr id="25" name="Shape 23"/>
          <p:cNvSpPr/>
          <p:nvPr/>
        </p:nvSpPr>
        <p:spPr>
          <a:xfrm>
            <a:off x="8554915" y="3154680"/>
            <a:ext cx="2875085" cy="457200"/>
          </a:xfrm>
          <a:prstGeom prst="rect">
            <a:avLst/>
          </a:prstGeom>
          <a:solidFill>
            <a:srgbClr val="F4F7FB"/>
          </a:solidFill>
          <a:ln w="6350">
            <a:solidFill>
              <a:srgbClr val="DCE4EF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628067" y="3236976"/>
            <a:ext cx="2728781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20" dirty="0">
                <a:solidFill>
                  <a:srgbClr val="1B2430"/>
                </a:solidFill>
              </a:rPr>
              <a:t>Insurance Approval</a:t>
            </a:r>
            <a:endParaRPr lang="en-US" sz="920" dirty="0"/>
          </a:p>
        </p:txBody>
      </p:sp>
      <p:sp>
        <p:nvSpPr>
          <p:cNvPr id="29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61111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700">
                <a:solidFill>
                  <a:srgbClr val="607089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lang="en-US" b="0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7955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B243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Data Validation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566928" y="786384"/>
            <a:ext cx="7589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36172"/>
                </a:solidFill>
              </a:rPr>
              <a:t>Pydantic catches bad input before routing begins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868680" y="1380744"/>
            <a:ext cx="4800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/>
              <a:t>models.py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886968" y="1770184"/>
            <a:ext cx="4764024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n-US" sz="1400" dirty="0">
                <a:latin typeface="Consolas" pitchFamily="34" charset="0"/>
                <a:ea typeface="Consolas" pitchFamily="34" charset="-122"/>
                <a:cs typeface="Consolas" pitchFamily="34" charset="-120"/>
              </a:rPr>
              <a:t>class Parcel(BaseModel):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latin typeface="Consolas" pitchFamily="34" charset="0"/>
                <a:ea typeface="Consolas" pitchFamily="34" charset="-122"/>
                <a:cs typeface="Consolas" pitchFamily="34" charset="-120"/>
              </a:rPr>
              <a:t>    weight: float = Field(..., gt=0)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latin typeface="Consolas" pitchFamily="34" charset="0"/>
                <a:ea typeface="Consolas" pitchFamily="34" charset="-122"/>
                <a:cs typeface="Consolas" pitchFamily="34" charset="-120"/>
              </a:rPr>
              <a:t>    value: float = Field(..., ge=0)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latin typeface="Consolas" pitchFamily="34" charset="0"/>
                <a:ea typeface="Consolas" pitchFamily="34" charset="-122"/>
                <a:cs typeface="Consolas" pitchFamily="34" charset="-120"/>
              </a:rPr>
              <a:t>    destination_country: str = Field(..., min_length=2)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latin typeface="Consolas" pitchFamily="34" charset="0"/>
                <a:ea typeface="Consolas" pitchFamily="34" charset="-122"/>
                <a:cs typeface="Consolas" pitchFamily="34" charset="-120"/>
              </a:rPr>
              <a:t>    attributes: Dict[str, Any] = Field(default_factory=dict)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6400800" y="1261872"/>
            <a:ext cx="2194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2563EB"/>
                </a:solidFill>
              </a:rPr>
              <a:t>VALIDATION RULES</a:t>
            </a:r>
            <a:endParaRPr lang="en-US" sz="850" dirty="0"/>
          </a:p>
        </p:txBody>
      </p:sp>
      <p:sp>
        <p:nvSpPr>
          <p:cNvPr id="8" name="Text 6"/>
          <p:cNvSpPr/>
          <p:nvPr/>
        </p:nvSpPr>
        <p:spPr>
          <a:xfrm>
            <a:off x="6400800" y="1572768"/>
            <a:ext cx="4754880" cy="14173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1350" dirty="0">
                <a:solidFill>
                  <a:srgbClr val="1B2430"/>
                </a:solidFill>
              </a:rPr>
              <a:t>• Weight must be greater than 0
• Value cannot be negative
• Destination cannot be blank
• Extra attributes can be accepted safely</a:t>
            </a:r>
            <a:endParaRPr lang="en-US" sz="1350" dirty="0"/>
          </a:p>
        </p:txBody>
      </p:sp>
      <p:sp>
        <p:nvSpPr>
          <p:cNvPr id="11" name="Text 9"/>
          <p:cNvSpPr/>
          <p:nvPr/>
        </p:nvSpPr>
        <p:spPr>
          <a:xfrm>
            <a:off x="886968" y="3867912"/>
            <a:ext cx="4526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B2430"/>
                </a:solidFill>
              </a:rPr>
              <a:t>Valid parcel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886968" y="4215384"/>
            <a:ext cx="4544568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536172"/>
                </a:solidFill>
              </a:rPr>
              <a:t>{ weight: 5, value: 1500, destination_country: "France" }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536172"/>
                </a:solidFill>
              </a:rPr>
              <a:t>→ Regular Department + Insurance Approval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6419088" y="3867912"/>
            <a:ext cx="4526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B2430"/>
                </a:solidFill>
              </a:rPr>
              <a:t>Invalid parcel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6419088" y="4215384"/>
            <a:ext cx="4544568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536172"/>
                </a:solidFill>
              </a:rPr>
              <a:t>{ weight: -3, value: 500, destination_country: "France" }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536172"/>
                </a:solidFill>
              </a:rPr>
              <a:t>→ Rejected before routing</a:t>
            </a:r>
            <a:endParaRPr lang="en-US" sz="10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61111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700">
                <a:solidFill>
                  <a:srgbClr val="607089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lang="en-US" b="0"/>
              <a:t>6</a:t>
            </a:fld>
            <a:endParaRPr lang="en-US"/>
          </a:p>
        </p:txBody>
      </p:sp>
      <p:sp>
        <p:nvSpPr>
          <p:cNvPr id="19" name="Shape 8">
            <a:extLst>
              <a:ext uri="{FF2B5EF4-FFF2-40B4-BE49-F238E27FC236}">
                <a16:creationId xmlns:a16="http://schemas.microsoft.com/office/drawing/2014/main" id="{62CF8468-5621-40F5-A028-ED18648B9AA9}"/>
              </a:ext>
            </a:extLst>
          </p:cNvPr>
          <p:cNvSpPr/>
          <p:nvPr/>
        </p:nvSpPr>
        <p:spPr>
          <a:xfrm>
            <a:off x="733201" y="3735324"/>
            <a:ext cx="73152" cy="96012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20" name="Shape 12">
            <a:extLst>
              <a:ext uri="{FF2B5EF4-FFF2-40B4-BE49-F238E27FC236}">
                <a16:creationId xmlns:a16="http://schemas.microsoft.com/office/drawing/2014/main" id="{6B3E1C02-D641-4DE5-BD77-233E4C1D6133}"/>
              </a:ext>
            </a:extLst>
          </p:cNvPr>
          <p:cNvSpPr/>
          <p:nvPr/>
        </p:nvSpPr>
        <p:spPr>
          <a:xfrm>
            <a:off x="6184705" y="3735324"/>
            <a:ext cx="73152" cy="960120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7955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B243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Routing Engine Flow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566928" y="786384"/>
            <a:ext cx="7589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36172"/>
                </a:solidFill>
              </a:rPr>
              <a:t>The router applies weight first, then approval checks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1645920" y="2103120"/>
            <a:ext cx="1691640" cy="0"/>
          </a:xfrm>
          <a:prstGeom prst="line">
            <a:avLst/>
          </a:prstGeom>
          <a:noFill/>
          <a:ln w="19050">
            <a:solidFill>
              <a:srgbClr val="AAB7C7"/>
            </a:solidFill>
            <a:prstDash val="solid"/>
            <a:headEnd type="none"/>
            <a:tailEnd type="triangle"/>
          </a:ln>
        </p:spPr>
      </p:sp>
      <p:sp>
        <p:nvSpPr>
          <p:cNvPr id="5" name="Shape 3"/>
          <p:cNvSpPr/>
          <p:nvPr/>
        </p:nvSpPr>
        <p:spPr>
          <a:xfrm>
            <a:off x="4709160" y="2103120"/>
            <a:ext cx="1737360" cy="0"/>
          </a:xfrm>
          <a:prstGeom prst="line">
            <a:avLst/>
          </a:prstGeom>
          <a:noFill/>
          <a:ln w="19050">
            <a:solidFill>
              <a:srgbClr val="AAB7C7"/>
            </a:solidFill>
            <a:prstDash val="solid"/>
            <a:headEnd type="none"/>
            <a:tailEnd type="triangle"/>
          </a:ln>
        </p:spPr>
      </p:sp>
      <p:sp>
        <p:nvSpPr>
          <p:cNvPr id="6" name="Shape 4"/>
          <p:cNvSpPr/>
          <p:nvPr/>
        </p:nvSpPr>
        <p:spPr>
          <a:xfrm>
            <a:off x="7863840" y="2103120"/>
            <a:ext cx="1783080" cy="0"/>
          </a:xfrm>
          <a:prstGeom prst="line">
            <a:avLst/>
          </a:prstGeom>
          <a:noFill/>
          <a:ln w="19050">
            <a:solidFill>
              <a:srgbClr val="AAB7C7"/>
            </a:solidFill>
            <a:prstDash val="solid"/>
            <a:headEnd type="none"/>
            <a:tailEnd type="triangle"/>
          </a:ln>
        </p:spPr>
      </p:sp>
      <p:sp>
        <p:nvSpPr>
          <p:cNvPr id="7" name="Shape 5"/>
          <p:cNvSpPr/>
          <p:nvPr/>
        </p:nvSpPr>
        <p:spPr>
          <a:xfrm>
            <a:off x="685800" y="1600200"/>
            <a:ext cx="1508760" cy="1005840"/>
          </a:xfrm>
          <a:prstGeom prst="roundRect">
            <a:avLst>
              <a:gd name="adj" fmla="val 6364"/>
            </a:avLst>
          </a:prstGeom>
          <a:solidFill>
            <a:srgbClr val="EAF1FF"/>
          </a:solidFill>
          <a:ln w="12700">
            <a:solidFill>
              <a:srgbClr val="93B9F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49808" y="1709928"/>
            <a:ext cx="1380744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B2430"/>
                </a:solidFill>
              </a:rPr>
              <a:t>Parcel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3063240" y="1600200"/>
            <a:ext cx="1828800" cy="1005840"/>
          </a:xfrm>
          <a:prstGeom prst="roundRect">
            <a:avLst>
              <a:gd name="adj" fmla="val 6364"/>
            </a:avLst>
          </a:prstGeom>
          <a:solidFill>
            <a:srgbClr val="FFF2E7"/>
          </a:solidFill>
          <a:ln w="12700">
            <a:solidFill>
              <a:srgbClr val="F7B475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127248" y="1709928"/>
            <a:ext cx="1700784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B2430"/>
                </a:solidFill>
              </a:rPr>
              <a:t>Weight Rule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6080760" y="1600200"/>
            <a:ext cx="1965960" cy="1005840"/>
          </a:xfrm>
          <a:prstGeom prst="roundRect">
            <a:avLst>
              <a:gd name="adj" fmla="val 6364"/>
            </a:avLst>
          </a:prstGeom>
          <a:solidFill>
            <a:srgbClr val="F2EAFE"/>
          </a:solidFill>
          <a:ln w="12700">
            <a:solidFill>
              <a:srgbClr val="BC9BF7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144768" y="1709928"/>
            <a:ext cx="1837944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B2430"/>
                </a:solidFill>
              </a:rPr>
              <a:t>Insurance Rule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9326880" y="1600200"/>
            <a:ext cx="1783080" cy="1005840"/>
          </a:xfrm>
          <a:prstGeom prst="roundRect">
            <a:avLst>
              <a:gd name="adj" fmla="val 6364"/>
            </a:avLst>
          </a:prstGeom>
          <a:solidFill>
            <a:srgbClr val="EAF7EF"/>
          </a:solidFill>
          <a:ln w="12700">
            <a:solidFill>
              <a:srgbClr val="8ED5A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9390888" y="1709928"/>
            <a:ext cx="1655064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B2430"/>
                </a:solidFill>
              </a:rPr>
              <a:t>Decision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996696" y="3156556"/>
            <a:ext cx="5120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/>
              <a:t>router.py</a:t>
            </a:r>
            <a:endParaRPr lang="en-US" sz="850" dirty="0"/>
          </a:p>
        </p:txBody>
      </p:sp>
      <p:sp>
        <p:nvSpPr>
          <p:cNvPr id="17" name="Text 15"/>
          <p:cNvSpPr/>
          <p:nvPr/>
        </p:nvSpPr>
        <p:spPr>
          <a:xfrm>
            <a:off x="996696" y="4060170"/>
            <a:ext cx="5084064" cy="1673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n-US" sz="1400" dirty="0">
                <a:latin typeface="Consolas" pitchFamily="34" charset="0"/>
                <a:ea typeface="Consolas" pitchFamily="34" charset="-122"/>
                <a:cs typeface="Consolas" pitchFamily="34" charset="-120"/>
              </a:rPr>
              <a:t>department = self._department_by_weight(parcel.weight, applied_rules)</a:t>
            </a:r>
            <a:endParaRPr lang="en-US" sz="1400" dirty="0"/>
          </a:p>
          <a:p>
            <a:pPr marL="0" indent="0">
              <a:buNone/>
            </a:pPr>
            <a:endParaRPr lang="en-US" sz="1400" dirty="0"/>
          </a:p>
          <a:p>
            <a:pPr marL="0" indent="0">
              <a:buNone/>
            </a:pPr>
            <a:r>
              <a:rPr lang="en-US" sz="1400" dirty="0">
                <a:latin typeface="Consolas" pitchFamily="34" charset="0"/>
                <a:ea typeface="Consolas" pitchFamily="34" charset="-122"/>
                <a:cs typeface="Consolas" pitchFamily="34" charset="-120"/>
              </a:rPr>
              <a:t>insurance_required = parcel.value &gt; self.config.insurance_threshold</a:t>
            </a:r>
            <a:endParaRPr lang="en-US" sz="1400" dirty="0"/>
          </a:p>
          <a:p>
            <a:pPr marL="0" indent="0">
              <a:buNone/>
            </a:pPr>
            <a:endParaRPr lang="en-US" sz="1400" dirty="0"/>
          </a:p>
          <a:p>
            <a:pPr marL="0" indent="0">
              <a:buNone/>
            </a:pPr>
            <a:r>
              <a:rPr lang="en-US" sz="1400" dirty="0">
                <a:latin typeface="Consolas" pitchFamily="34" charset="0"/>
                <a:ea typeface="Consolas" pitchFamily="34" charset="-122"/>
                <a:cs typeface="Consolas" pitchFamily="34" charset="-120"/>
              </a:rPr>
              <a:t>return RoutingDecision(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latin typeface="Consolas" pitchFamily="34" charset="0"/>
                <a:ea typeface="Consolas" pitchFamily="34" charset="-122"/>
                <a:cs typeface="Consolas" pitchFamily="34" charset="-120"/>
              </a:rPr>
              <a:t>    department=department,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latin typeface="Consolas" pitchFamily="34" charset="0"/>
                <a:ea typeface="Consolas" pitchFamily="34" charset="-122"/>
                <a:cs typeface="Consolas" pitchFamily="34" charset="-120"/>
              </a:rPr>
              <a:t>    insurance_required=insurance_required,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latin typeface="Consolas" pitchFamily="34" charset="0"/>
                <a:ea typeface="Consolas" pitchFamily="34" charset="-122"/>
                <a:cs typeface="Consolas" pitchFamily="34" charset="-120"/>
              </a:rPr>
              <a:t>    approvals_required=approvals_required,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latin typeface="Consolas" pitchFamily="34" charset="0"/>
                <a:ea typeface="Consolas" pitchFamily="34" charset="-122"/>
                <a:cs typeface="Consolas" pitchFamily="34" charset="-120"/>
              </a:rPr>
              <a:t>    applied_rules=applied_rules,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latin typeface="Consolas" pitchFamily="34" charset="0"/>
                <a:ea typeface="Consolas" pitchFamily="34" charset="-122"/>
                <a:cs typeface="Consolas" pitchFamily="34" charset="-120"/>
              </a:rPr>
              <a:t>    rule_version=self.config.rule_version,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6812280" y="3246120"/>
            <a:ext cx="2194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2563EB"/>
                </a:solidFill>
              </a:rPr>
              <a:t>OUTPUT INCLUDES</a:t>
            </a:r>
            <a:endParaRPr lang="en-US" sz="850" dirty="0"/>
          </a:p>
        </p:txBody>
      </p:sp>
      <p:sp>
        <p:nvSpPr>
          <p:cNvPr id="19" name="Text 17"/>
          <p:cNvSpPr/>
          <p:nvPr/>
        </p:nvSpPr>
        <p:spPr>
          <a:xfrm>
            <a:off x="6812280" y="3547872"/>
            <a:ext cx="4480560" cy="16459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1350" dirty="0">
                <a:solidFill>
                  <a:srgbClr val="1B2430"/>
                </a:solidFill>
              </a:rPr>
              <a:t>• Assigned department
• Insurance required: true/false
• Approvals required
• Applied rules for explainability
• Rule version for traceability</a:t>
            </a:r>
            <a:endParaRPr lang="en-US" sz="13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61111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700">
                <a:solidFill>
                  <a:srgbClr val="607089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lang="en-US" b="0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7955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B243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API and Interface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566928" y="786384"/>
            <a:ext cx="7589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36172"/>
                </a:solidFill>
              </a:rPr>
              <a:t>FastAPI serves both the UI and the routing endpoints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685800" y="1234440"/>
            <a:ext cx="2115820" cy="502920"/>
          </a:xfrm>
          <a:prstGeom prst="rect">
            <a:avLst/>
          </a:prstGeom>
          <a:solidFill>
            <a:srgbClr val="132238"/>
          </a:solidFill>
          <a:ln w="6350">
            <a:solidFill>
              <a:srgbClr val="DCE4E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58952" y="1316736"/>
            <a:ext cx="1969516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50" b="1" dirty="0">
                <a:solidFill>
                  <a:srgbClr val="FFFFFF"/>
                </a:solidFill>
              </a:rPr>
              <a:t>Endpoint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2801620" y="1234440"/>
            <a:ext cx="3324860" cy="502920"/>
          </a:xfrm>
          <a:prstGeom prst="rect">
            <a:avLst/>
          </a:prstGeom>
          <a:solidFill>
            <a:srgbClr val="132238"/>
          </a:solidFill>
          <a:ln w="6350">
            <a:solidFill>
              <a:srgbClr val="DCE4E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874772" y="1316736"/>
            <a:ext cx="3178556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50" b="1" dirty="0">
                <a:solidFill>
                  <a:srgbClr val="FFFFFF"/>
                </a:solidFill>
              </a:rPr>
              <a:t>Purpose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685800" y="1737360"/>
            <a:ext cx="2115820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DCE4E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58952" y="1819656"/>
            <a:ext cx="1969516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20" dirty="0">
                <a:solidFill>
                  <a:srgbClr val="1B2430"/>
                </a:solidFill>
              </a:rPr>
              <a:t>GET /</a:t>
            </a:r>
            <a:endParaRPr lang="en-US" sz="920" dirty="0"/>
          </a:p>
        </p:txBody>
      </p:sp>
      <p:sp>
        <p:nvSpPr>
          <p:cNvPr id="10" name="Shape 8"/>
          <p:cNvSpPr/>
          <p:nvPr/>
        </p:nvSpPr>
        <p:spPr>
          <a:xfrm>
            <a:off x="2801620" y="1737360"/>
            <a:ext cx="3324860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DCE4E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874772" y="1819656"/>
            <a:ext cx="3178556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20" dirty="0">
                <a:solidFill>
                  <a:srgbClr val="1B2430"/>
                </a:solidFill>
              </a:rPr>
              <a:t>Open the web interface</a:t>
            </a:r>
            <a:endParaRPr lang="en-US" sz="920" dirty="0"/>
          </a:p>
        </p:txBody>
      </p:sp>
      <p:sp>
        <p:nvSpPr>
          <p:cNvPr id="12" name="Shape 10"/>
          <p:cNvSpPr/>
          <p:nvPr/>
        </p:nvSpPr>
        <p:spPr>
          <a:xfrm>
            <a:off x="685800" y="2240280"/>
            <a:ext cx="2115820" cy="502920"/>
          </a:xfrm>
          <a:prstGeom prst="rect">
            <a:avLst/>
          </a:prstGeom>
          <a:solidFill>
            <a:srgbClr val="F4F7FB"/>
          </a:solidFill>
          <a:ln w="6350">
            <a:solidFill>
              <a:srgbClr val="DCE4E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58952" y="2322576"/>
            <a:ext cx="1969516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20" dirty="0">
                <a:solidFill>
                  <a:srgbClr val="1B2430"/>
                </a:solidFill>
              </a:rPr>
              <a:t>GET /health</a:t>
            </a:r>
            <a:endParaRPr lang="en-US" sz="920" dirty="0"/>
          </a:p>
        </p:txBody>
      </p:sp>
      <p:sp>
        <p:nvSpPr>
          <p:cNvPr id="14" name="Shape 12"/>
          <p:cNvSpPr/>
          <p:nvPr/>
        </p:nvSpPr>
        <p:spPr>
          <a:xfrm>
            <a:off x="2801620" y="2240280"/>
            <a:ext cx="3324860" cy="502920"/>
          </a:xfrm>
          <a:prstGeom prst="rect">
            <a:avLst/>
          </a:prstGeom>
          <a:solidFill>
            <a:srgbClr val="F4F7FB"/>
          </a:solidFill>
          <a:ln w="6350">
            <a:solidFill>
              <a:srgbClr val="DCE4E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874772" y="2322576"/>
            <a:ext cx="3178556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20" dirty="0">
                <a:solidFill>
                  <a:srgbClr val="1B2430"/>
                </a:solidFill>
              </a:rPr>
              <a:t>Confirm app and rule version</a:t>
            </a:r>
            <a:endParaRPr lang="en-US" sz="920" dirty="0"/>
          </a:p>
        </p:txBody>
      </p:sp>
      <p:sp>
        <p:nvSpPr>
          <p:cNvPr id="16" name="Shape 14"/>
          <p:cNvSpPr/>
          <p:nvPr/>
        </p:nvSpPr>
        <p:spPr>
          <a:xfrm>
            <a:off x="685800" y="2743200"/>
            <a:ext cx="2115820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DCE4E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58952" y="2825496"/>
            <a:ext cx="1969516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20" dirty="0">
                <a:solidFill>
                  <a:srgbClr val="1B2430"/>
                </a:solidFill>
              </a:rPr>
              <a:t>POST /api/route</a:t>
            </a:r>
            <a:endParaRPr lang="en-US" sz="920" dirty="0"/>
          </a:p>
        </p:txBody>
      </p:sp>
      <p:sp>
        <p:nvSpPr>
          <p:cNvPr id="18" name="Shape 16"/>
          <p:cNvSpPr/>
          <p:nvPr/>
        </p:nvSpPr>
        <p:spPr>
          <a:xfrm>
            <a:off x="2801620" y="2743200"/>
            <a:ext cx="3324860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DCE4EF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2874772" y="2825496"/>
            <a:ext cx="3178556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20" dirty="0">
                <a:solidFill>
                  <a:srgbClr val="1B2430"/>
                </a:solidFill>
              </a:rPr>
              <a:t>Route one parcel</a:t>
            </a:r>
            <a:endParaRPr lang="en-US" sz="920" dirty="0"/>
          </a:p>
        </p:txBody>
      </p:sp>
      <p:sp>
        <p:nvSpPr>
          <p:cNvPr id="20" name="Shape 18"/>
          <p:cNvSpPr/>
          <p:nvPr/>
        </p:nvSpPr>
        <p:spPr>
          <a:xfrm>
            <a:off x="685800" y="3246120"/>
            <a:ext cx="2115820" cy="502920"/>
          </a:xfrm>
          <a:prstGeom prst="rect">
            <a:avLst/>
          </a:prstGeom>
          <a:solidFill>
            <a:srgbClr val="F4F7FB"/>
          </a:solidFill>
          <a:ln w="6350">
            <a:solidFill>
              <a:srgbClr val="DCE4EF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58952" y="3328416"/>
            <a:ext cx="1969516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20" dirty="0">
                <a:solidFill>
                  <a:srgbClr val="1B2430"/>
                </a:solidFill>
              </a:rPr>
              <a:t>POST /api/route/batch</a:t>
            </a:r>
            <a:endParaRPr lang="en-US" sz="920" dirty="0"/>
          </a:p>
        </p:txBody>
      </p:sp>
      <p:sp>
        <p:nvSpPr>
          <p:cNvPr id="22" name="Shape 20"/>
          <p:cNvSpPr/>
          <p:nvPr/>
        </p:nvSpPr>
        <p:spPr>
          <a:xfrm>
            <a:off x="2801620" y="3246120"/>
            <a:ext cx="3324860" cy="502920"/>
          </a:xfrm>
          <a:prstGeom prst="rect">
            <a:avLst/>
          </a:prstGeom>
          <a:solidFill>
            <a:srgbClr val="F4F7FB"/>
          </a:solidFill>
          <a:ln w="6350">
            <a:solidFill>
              <a:srgbClr val="DCE4EF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2874772" y="3328416"/>
            <a:ext cx="3178556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20" dirty="0">
                <a:solidFill>
                  <a:srgbClr val="1B2430"/>
                </a:solidFill>
              </a:rPr>
              <a:t>Route uploaded JSON array</a:t>
            </a:r>
            <a:endParaRPr lang="en-US" sz="920" dirty="0"/>
          </a:p>
        </p:txBody>
      </p:sp>
      <p:sp>
        <p:nvSpPr>
          <p:cNvPr id="24" name="Shape 22"/>
          <p:cNvSpPr/>
          <p:nvPr/>
        </p:nvSpPr>
        <p:spPr>
          <a:xfrm>
            <a:off x="7178040" y="1874520"/>
            <a:ext cx="1280160" cy="0"/>
          </a:xfrm>
          <a:prstGeom prst="line">
            <a:avLst/>
          </a:prstGeom>
          <a:noFill/>
          <a:ln w="19050">
            <a:solidFill>
              <a:srgbClr val="AAB7C7"/>
            </a:solidFill>
            <a:prstDash val="solid"/>
            <a:headEnd type="none"/>
            <a:tailEnd type="triangle"/>
          </a:ln>
        </p:spPr>
      </p:sp>
      <p:sp>
        <p:nvSpPr>
          <p:cNvPr id="25" name="Shape 23"/>
          <p:cNvSpPr/>
          <p:nvPr/>
        </p:nvSpPr>
        <p:spPr>
          <a:xfrm>
            <a:off x="9674352" y="1874520"/>
            <a:ext cx="1115568" cy="0"/>
          </a:xfrm>
          <a:prstGeom prst="line">
            <a:avLst/>
          </a:prstGeom>
          <a:noFill/>
          <a:ln w="19050">
            <a:solidFill>
              <a:srgbClr val="AAB7C7"/>
            </a:solidFill>
            <a:prstDash val="solid"/>
            <a:headEnd type="none"/>
            <a:tailEnd type="triangle"/>
          </a:ln>
        </p:spPr>
      </p:sp>
      <p:sp>
        <p:nvSpPr>
          <p:cNvPr id="26" name="Shape 24"/>
          <p:cNvSpPr/>
          <p:nvPr/>
        </p:nvSpPr>
        <p:spPr>
          <a:xfrm>
            <a:off x="6446520" y="1417320"/>
            <a:ext cx="1417320" cy="914400"/>
          </a:xfrm>
          <a:prstGeom prst="roundRect">
            <a:avLst>
              <a:gd name="adj" fmla="val 7000"/>
            </a:avLst>
          </a:prstGeom>
          <a:solidFill>
            <a:srgbClr val="EAF1FF"/>
          </a:solidFill>
          <a:ln w="12700">
            <a:solidFill>
              <a:srgbClr val="93B9FF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510528" y="1527048"/>
            <a:ext cx="1289304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1B2430"/>
                </a:solidFill>
              </a:rPr>
              <a:t>HTML Form</a:t>
            </a:r>
            <a:endParaRPr lang="en-US" sz="1250" dirty="0"/>
          </a:p>
        </p:txBody>
      </p:sp>
      <p:sp>
        <p:nvSpPr>
          <p:cNvPr id="28" name="Shape 26"/>
          <p:cNvSpPr/>
          <p:nvPr/>
        </p:nvSpPr>
        <p:spPr>
          <a:xfrm>
            <a:off x="8229600" y="1417320"/>
            <a:ext cx="1554480" cy="914400"/>
          </a:xfrm>
          <a:prstGeom prst="roundRect">
            <a:avLst>
              <a:gd name="adj" fmla="val 7000"/>
            </a:avLst>
          </a:prstGeom>
          <a:solidFill>
            <a:srgbClr val="FFF2E7"/>
          </a:solidFill>
          <a:ln w="12700">
            <a:solidFill>
              <a:srgbClr val="F7B475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8293608" y="1527048"/>
            <a:ext cx="1426464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1B2430"/>
                </a:solidFill>
              </a:rPr>
              <a:t>JS fetch()</a:t>
            </a:r>
            <a:endParaRPr lang="en-US" sz="1250" dirty="0"/>
          </a:p>
        </p:txBody>
      </p:sp>
      <p:sp>
        <p:nvSpPr>
          <p:cNvPr id="30" name="Shape 28"/>
          <p:cNvSpPr/>
          <p:nvPr/>
        </p:nvSpPr>
        <p:spPr>
          <a:xfrm>
            <a:off x="10378440" y="1417320"/>
            <a:ext cx="1325880" cy="914400"/>
          </a:xfrm>
          <a:prstGeom prst="roundRect">
            <a:avLst>
              <a:gd name="adj" fmla="val 7000"/>
            </a:avLst>
          </a:prstGeom>
          <a:solidFill>
            <a:srgbClr val="EAF7EF"/>
          </a:solidFill>
          <a:ln w="12700">
            <a:solidFill>
              <a:srgbClr val="8ED5A8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10442448" y="1527048"/>
            <a:ext cx="1197864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1B2430"/>
                </a:solidFill>
              </a:rPr>
              <a:t>FastAPI</a:t>
            </a:r>
            <a:endParaRPr lang="en-US" sz="1250" dirty="0"/>
          </a:p>
        </p:txBody>
      </p:sp>
      <p:sp>
        <p:nvSpPr>
          <p:cNvPr id="33" name="Shape 31"/>
          <p:cNvSpPr/>
          <p:nvPr/>
        </p:nvSpPr>
        <p:spPr>
          <a:xfrm>
            <a:off x="6446520" y="2788920"/>
            <a:ext cx="73152" cy="105156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6647688" y="2953512"/>
            <a:ext cx="4800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B2430"/>
                </a:solidFill>
              </a:rPr>
              <a:t>Manual routing</a:t>
            </a:r>
            <a:endParaRPr lang="en-US" sz="1400" dirty="0"/>
          </a:p>
        </p:txBody>
      </p:sp>
      <p:sp>
        <p:nvSpPr>
          <p:cNvPr id="35" name="Text 33"/>
          <p:cNvSpPr/>
          <p:nvPr/>
        </p:nvSpPr>
        <p:spPr>
          <a:xfrm>
            <a:off x="6647688" y="3300984"/>
            <a:ext cx="4818888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536172"/>
                </a:solidFill>
              </a:rPr>
              <a:t>The operator enters weight, value, and destination. The UI calls /api/route and displays the decision.</a:t>
            </a:r>
            <a:endParaRPr lang="en-US" sz="1050" dirty="0"/>
          </a:p>
        </p:txBody>
      </p:sp>
      <p:sp>
        <p:nvSpPr>
          <p:cNvPr id="37" name="Shape 35"/>
          <p:cNvSpPr/>
          <p:nvPr/>
        </p:nvSpPr>
        <p:spPr>
          <a:xfrm>
            <a:off x="6446520" y="4160520"/>
            <a:ext cx="73152" cy="1051560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6647688" y="4325112"/>
            <a:ext cx="4800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B2430"/>
                </a:solidFill>
              </a:rPr>
              <a:t>Batch routing</a:t>
            </a:r>
            <a:endParaRPr lang="en-US" sz="1400" dirty="0"/>
          </a:p>
        </p:txBody>
      </p:sp>
      <p:sp>
        <p:nvSpPr>
          <p:cNvPr id="39" name="Text 37"/>
          <p:cNvSpPr/>
          <p:nvPr/>
        </p:nvSpPr>
        <p:spPr>
          <a:xfrm>
            <a:off x="6647688" y="4672584"/>
            <a:ext cx="4818888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536172"/>
                </a:solidFill>
              </a:rPr>
              <a:t>The operator uploads a JSON file. The UI calls /api/route/batch and displays summary, routed rows, and errors.</a:t>
            </a:r>
            <a:endParaRPr lang="en-US" sz="1050" dirty="0"/>
          </a:p>
        </p:txBody>
      </p:sp>
      <p:sp>
        <p:nvSpPr>
          <p:cNvPr id="40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61111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700">
                <a:solidFill>
                  <a:srgbClr val="607089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lang="en-US" b="0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7955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B243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Batch Upload Handling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566928" y="786384"/>
            <a:ext cx="7589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36172"/>
                </a:solidFill>
              </a:rPr>
              <a:t>Graceful handling of large or imperfect input files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868680" y="1335024"/>
            <a:ext cx="5029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/>
              <a:t>sample_parcels.json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867452" y="1634470"/>
            <a:ext cx="4992624" cy="14447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n-US" sz="1400" dirty="0">
                <a:latin typeface="Consolas" pitchFamily="34" charset="0"/>
                <a:ea typeface="Consolas" pitchFamily="34" charset="-122"/>
                <a:cs typeface="Consolas" pitchFamily="34" charset="-120"/>
              </a:rPr>
              <a:t>[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latin typeface="Consolas" pitchFamily="34" charset="0"/>
                <a:ea typeface="Consolas" pitchFamily="34" charset="-122"/>
                <a:cs typeface="Consolas" pitchFamily="34" charset="-120"/>
              </a:rPr>
              <a:t>  { "weight": 0.5, "value": 100,  "destination_country": "Germany" },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latin typeface="Consolas" pitchFamily="34" charset="0"/>
                <a:ea typeface="Consolas" pitchFamily="34" charset="-122"/>
                <a:cs typeface="Consolas" pitchFamily="34" charset="-120"/>
              </a:rPr>
              <a:t>  { "weight": 5.0, "value": 1500, "destination_country": "France" },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latin typeface="Consolas" pitchFamily="34" charset="0"/>
                <a:ea typeface="Consolas" pitchFamily="34" charset="-122"/>
                <a:cs typeface="Consolas" pitchFamily="34" charset="-120"/>
              </a:rPr>
              <a:t>  { "weight": 12,  "value": 700,  "destination_country": "India" }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latin typeface="Consolas" pitchFamily="34" charset="0"/>
                <a:ea typeface="Consolas" pitchFamily="34" charset="-122"/>
                <a:cs typeface="Consolas" pitchFamily="34" charset="-120"/>
              </a:rPr>
              <a:t>]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6537960" y="1234440"/>
            <a:ext cx="2194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2563EB"/>
                </a:solidFill>
              </a:rPr>
              <a:t>BATCH SAFEGUARDS</a:t>
            </a:r>
            <a:endParaRPr lang="en-US" sz="850" dirty="0"/>
          </a:p>
        </p:txBody>
      </p:sp>
      <p:sp>
        <p:nvSpPr>
          <p:cNvPr id="8" name="Text 6"/>
          <p:cNvSpPr/>
          <p:nvPr/>
        </p:nvSpPr>
        <p:spPr>
          <a:xfrm>
            <a:off x="6537960" y="1554480"/>
            <a:ext cx="4572000" cy="18288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1300" dirty="0">
                <a:solidFill>
                  <a:srgbClr val="1B2430"/>
                </a:solidFill>
              </a:rPr>
              <a:t>• Only JSON files are accepted
• Maximum upload size is 5 MB
• File must contain a JSON array
• Each row is validated independently
• Valid rows still route even if other rows fail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914400" y="4160520"/>
            <a:ext cx="1702526" cy="438912"/>
          </a:xfrm>
          <a:prstGeom prst="rect">
            <a:avLst/>
          </a:prstGeom>
          <a:solidFill>
            <a:srgbClr val="2563EB"/>
          </a:solidFill>
          <a:ln w="6350">
            <a:solidFill>
              <a:srgbClr val="DCE4E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87552" y="4242816"/>
            <a:ext cx="155622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50" b="1" dirty="0">
                <a:solidFill>
                  <a:srgbClr val="FFFFFF"/>
                </a:solidFill>
              </a:rPr>
              <a:t>Metric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2616926" y="4160520"/>
            <a:ext cx="2960914" cy="438912"/>
          </a:xfrm>
          <a:prstGeom prst="rect">
            <a:avLst/>
          </a:prstGeom>
          <a:solidFill>
            <a:srgbClr val="2563EB"/>
          </a:solidFill>
          <a:ln w="6350">
            <a:solidFill>
              <a:srgbClr val="DCE4E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690078" y="4242816"/>
            <a:ext cx="281461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50" b="1" dirty="0">
                <a:solidFill>
                  <a:srgbClr val="FFFFFF"/>
                </a:solidFill>
              </a:rPr>
              <a:t>Meaning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914400" y="4599432"/>
            <a:ext cx="1702526" cy="438912"/>
          </a:xfrm>
          <a:prstGeom prst="rect">
            <a:avLst/>
          </a:prstGeom>
          <a:solidFill>
            <a:srgbClr val="FFFFFF"/>
          </a:solidFill>
          <a:ln w="6350">
            <a:solidFill>
              <a:srgbClr val="DCE4E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987552" y="4681728"/>
            <a:ext cx="155622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20" dirty="0">
                <a:solidFill>
                  <a:srgbClr val="1B2430"/>
                </a:solidFill>
              </a:rPr>
              <a:t>total_records</a:t>
            </a:r>
            <a:endParaRPr lang="en-US" sz="920" dirty="0"/>
          </a:p>
        </p:txBody>
      </p:sp>
      <p:sp>
        <p:nvSpPr>
          <p:cNvPr id="15" name="Shape 13"/>
          <p:cNvSpPr/>
          <p:nvPr/>
        </p:nvSpPr>
        <p:spPr>
          <a:xfrm>
            <a:off x="2616926" y="4599432"/>
            <a:ext cx="2960914" cy="438912"/>
          </a:xfrm>
          <a:prstGeom prst="rect">
            <a:avLst/>
          </a:prstGeom>
          <a:solidFill>
            <a:srgbClr val="FFFFFF"/>
          </a:solidFill>
          <a:ln w="6350">
            <a:solidFill>
              <a:srgbClr val="DCE4EF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2690078" y="4681728"/>
            <a:ext cx="281461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20" dirty="0">
                <a:solidFill>
                  <a:srgbClr val="1B2430"/>
                </a:solidFill>
              </a:rPr>
              <a:t>Number of rows in file</a:t>
            </a:r>
            <a:endParaRPr lang="en-US" sz="920" dirty="0"/>
          </a:p>
        </p:txBody>
      </p:sp>
      <p:sp>
        <p:nvSpPr>
          <p:cNvPr id="17" name="Shape 15"/>
          <p:cNvSpPr/>
          <p:nvPr/>
        </p:nvSpPr>
        <p:spPr>
          <a:xfrm>
            <a:off x="914400" y="5038344"/>
            <a:ext cx="1702526" cy="438912"/>
          </a:xfrm>
          <a:prstGeom prst="rect">
            <a:avLst/>
          </a:prstGeom>
          <a:solidFill>
            <a:srgbClr val="F4F7FB"/>
          </a:solidFill>
          <a:ln w="6350">
            <a:solidFill>
              <a:srgbClr val="DCE4EF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987552" y="5120640"/>
            <a:ext cx="155622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20" dirty="0">
                <a:solidFill>
                  <a:srgbClr val="1B2430"/>
                </a:solidFill>
              </a:rPr>
              <a:t>successfully_routed</a:t>
            </a:r>
            <a:endParaRPr lang="en-US" sz="920" dirty="0"/>
          </a:p>
        </p:txBody>
      </p:sp>
      <p:sp>
        <p:nvSpPr>
          <p:cNvPr id="19" name="Shape 17"/>
          <p:cNvSpPr/>
          <p:nvPr/>
        </p:nvSpPr>
        <p:spPr>
          <a:xfrm>
            <a:off x="2616926" y="5038344"/>
            <a:ext cx="2960914" cy="438912"/>
          </a:xfrm>
          <a:prstGeom prst="rect">
            <a:avLst/>
          </a:prstGeom>
          <a:solidFill>
            <a:srgbClr val="F4F7FB"/>
          </a:solidFill>
          <a:ln w="6350">
            <a:solidFill>
              <a:srgbClr val="DCE4E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2690078" y="5120640"/>
            <a:ext cx="281461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20" dirty="0">
                <a:solidFill>
                  <a:srgbClr val="1B2430"/>
                </a:solidFill>
              </a:rPr>
              <a:t>Valid parcels routed</a:t>
            </a:r>
            <a:endParaRPr lang="en-US" sz="920" dirty="0"/>
          </a:p>
        </p:txBody>
      </p:sp>
      <p:sp>
        <p:nvSpPr>
          <p:cNvPr id="21" name="Shape 19"/>
          <p:cNvSpPr/>
          <p:nvPr/>
        </p:nvSpPr>
        <p:spPr>
          <a:xfrm>
            <a:off x="914400" y="5477256"/>
            <a:ext cx="1702526" cy="438912"/>
          </a:xfrm>
          <a:prstGeom prst="rect">
            <a:avLst/>
          </a:prstGeom>
          <a:solidFill>
            <a:srgbClr val="FFFFFF"/>
          </a:solidFill>
          <a:ln w="6350">
            <a:solidFill>
              <a:srgbClr val="DCE4EF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987552" y="5559552"/>
            <a:ext cx="155622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20" dirty="0">
                <a:solidFill>
                  <a:srgbClr val="1B2430"/>
                </a:solidFill>
              </a:rPr>
              <a:t>failed_validation</a:t>
            </a:r>
            <a:endParaRPr lang="en-US" sz="920" dirty="0"/>
          </a:p>
        </p:txBody>
      </p:sp>
      <p:sp>
        <p:nvSpPr>
          <p:cNvPr id="23" name="Shape 21"/>
          <p:cNvSpPr/>
          <p:nvPr/>
        </p:nvSpPr>
        <p:spPr>
          <a:xfrm>
            <a:off x="2616926" y="5477256"/>
            <a:ext cx="2960914" cy="438912"/>
          </a:xfrm>
          <a:prstGeom prst="rect">
            <a:avLst/>
          </a:prstGeom>
          <a:solidFill>
            <a:srgbClr val="FFFFFF"/>
          </a:solidFill>
          <a:ln w="6350">
            <a:solidFill>
              <a:srgbClr val="DCE4EF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2690078" y="5559552"/>
            <a:ext cx="281461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20" dirty="0">
                <a:solidFill>
                  <a:srgbClr val="1B2430"/>
                </a:solidFill>
              </a:rPr>
              <a:t>Invalid rows reported</a:t>
            </a:r>
            <a:endParaRPr lang="en-US" sz="920" dirty="0"/>
          </a:p>
        </p:txBody>
      </p:sp>
      <p:sp>
        <p:nvSpPr>
          <p:cNvPr id="26" name="Shape 24"/>
          <p:cNvSpPr/>
          <p:nvPr/>
        </p:nvSpPr>
        <p:spPr>
          <a:xfrm>
            <a:off x="6537960" y="4160520"/>
            <a:ext cx="73152" cy="1143000"/>
          </a:xfrm>
          <a:prstGeom prst="rect">
            <a:avLst/>
          </a:prstGeom>
          <a:solidFill>
            <a:srgbClr val="EA7A1A"/>
          </a:solidFill>
          <a:ln w="12700">
            <a:solidFill>
              <a:srgbClr val="EA7A1A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739128" y="4325112"/>
            <a:ext cx="4206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B2430"/>
                </a:solidFill>
              </a:rPr>
              <a:t>Why this matters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6739128" y="4672584"/>
            <a:ext cx="4224528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536172"/>
                </a:solidFill>
              </a:rPr>
              <a:t>One bad parcel should not crash the whole batch. The operator should receive a clear summary and row-level errors.</a:t>
            </a:r>
            <a:endParaRPr lang="en-US" sz="1050" dirty="0"/>
          </a:p>
        </p:txBody>
      </p:sp>
      <p:sp>
        <p:nvSpPr>
          <p:cNvPr id="29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61111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700">
                <a:solidFill>
                  <a:srgbClr val="607089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lang="en-US" b="0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7955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B243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Testing Strategy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566928" y="786384"/>
            <a:ext cx="7589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36172"/>
                </a:solidFill>
              </a:rPr>
              <a:t>Tests protect the rules that are most likely to break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841248" y="1527048"/>
            <a:ext cx="2798064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B2430"/>
                </a:solidFill>
              </a:rPr>
              <a:t>Routing boundary tests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841248" y="2441448"/>
            <a:ext cx="2798064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B2430"/>
                </a:solidFill>
              </a:rPr>
              <a:t>Validation tests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841248" y="3355848"/>
            <a:ext cx="2798064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B2430"/>
                </a:solidFill>
              </a:rPr>
              <a:t>Config safety tests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841248" y="4270248"/>
            <a:ext cx="2798064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B2430"/>
                </a:solidFill>
              </a:rPr>
              <a:t>API tests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4572000" y="1234440"/>
            <a:ext cx="2497015" cy="420624"/>
          </a:xfrm>
          <a:prstGeom prst="rect">
            <a:avLst/>
          </a:prstGeom>
          <a:solidFill>
            <a:srgbClr val="132238"/>
          </a:solidFill>
          <a:ln w="6350">
            <a:solidFill>
              <a:srgbClr val="DCE4E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645152" y="1316736"/>
            <a:ext cx="2350711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50" b="1" dirty="0">
                <a:solidFill>
                  <a:srgbClr val="FFFFFF"/>
                </a:solidFill>
              </a:rPr>
              <a:t>Case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7069015" y="1234440"/>
            <a:ext cx="3995225" cy="420624"/>
          </a:xfrm>
          <a:prstGeom prst="rect">
            <a:avLst/>
          </a:prstGeom>
          <a:solidFill>
            <a:srgbClr val="132238"/>
          </a:solidFill>
          <a:ln w="6350">
            <a:solidFill>
              <a:srgbClr val="DCE4E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142167" y="1316736"/>
            <a:ext cx="3848921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50" b="1" dirty="0">
                <a:solidFill>
                  <a:srgbClr val="FFFFFF"/>
                </a:solidFill>
              </a:rPr>
              <a:t>Expected result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4572000" y="1655064"/>
            <a:ext cx="2497015" cy="420624"/>
          </a:xfrm>
          <a:prstGeom prst="rect">
            <a:avLst/>
          </a:prstGeom>
          <a:solidFill>
            <a:srgbClr val="FFFFFF"/>
          </a:solidFill>
          <a:ln w="6350">
            <a:solidFill>
              <a:srgbClr val="DCE4E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645152" y="1737360"/>
            <a:ext cx="2350711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20" dirty="0">
                <a:solidFill>
                  <a:srgbClr val="1B2430"/>
                </a:solidFill>
              </a:rPr>
              <a:t>0.5 kg</a:t>
            </a:r>
            <a:endParaRPr lang="en-US" sz="920" dirty="0"/>
          </a:p>
        </p:txBody>
      </p:sp>
      <p:sp>
        <p:nvSpPr>
          <p:cNvPr id="18" name="Shape 16"/>
          <p:cNvSpPr/>
          <p:nvPr/>
        </p:nvSpPr>
        <p:spPr>
          <a:xfrm>
            <a:off x="7069015" y="1655064"/>
            <a:ext cx="3995225" cy="420624"/>
          </a:xfrm>
          <a:prstGeom prst="rect">
            <a:avLst/>
          </a:prstGeom>
          <a:solidFill>
            <a:srgbClr val="FFFFFF"/>
          </a:solidFill>
          <a:ln w="6350">
            <a:solidFill>
              <a:srgbClr val="DCE4EF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7142167" y="1737360"/>
            <a:ext cx="3848921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20" dirty="0">
                <a:solidFill>
                  <a:srgbClr val="1B2430"/>
                </a:solidFill>
              </a:rPr>
              <a:t>Mail Department</a:t>
            </a:r>
            <a:endParaRPr lang="en-US" sz="920" dirty="0"/>
          </a:p>
        </p:txBody>
      </p:sp>
      <p:sp>
        <p:nvSpPr>
          <p:cNvPr id="20" name="Shape 18"/>
          <p:cNvSpPr/>
          <p:nvPr/>
        </p:nvSpPr>
        <p:spPr>
          <a:xfrm>
            <a:off x="4572000" y="2075688"/>
            <a:ext cx="2497015" cy="420624"/>
          </a:xfrm>
          <a:prstGeom prst="rect">
            <a:avLst/>
          </a:prstGeom>
          <a:solidFill>
            <a:srgbClr val="F4F7FB"/>
          </a:solidFill>
          <a:ln w="6350">
            <a:solidFill>
              <a:srgbClr val="DCE4EF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645152" y="2157984"/>
            <a:ext cx="2350711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20" dirty="0">
                <a:solidFill>
                  <a:srgbClr val="1B2430"/>
                </a:solidFill>
              </a:rPr>
              <a:t>1.0 kg</a:t>
            </a:r>
            <a:endParaRPr lang="en-US" sz="920" dirty="0"/>
          </a:p>
        </p:txBody>
      </p:sp>
      <p:sp>
        <p:nvSpPr>
          <p:cNvPr id="22" name="Shape 20"/>
          <p:cNvSpPr/>
          <p:nvPr/>
        </p:nvSpPr>
        <p:spPr>
          <a:xfrm>
            <a:off x="7069015" y="2075688"/>
            <a:ext cx="3995225" cy="420624"/>
          </a:xfrm>
          <a:prstGeom prst="rect">
            <a:avLst/>
          </a:prstGeom>
          <a:solidFill>
            <a:srgbClr val="F4F7FB"/>
          </a:solidFill>
          <a:ln w="6350">
            <a:solidFill>
              <a:srgbClr val="DCE4EF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7142167" y="2157984"/>
            <a:ext cx="3848921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20" dirty="0">
                <a:solidFill>
                  <a:srgbClr val="1B2430"/>
                </a:solidFill>
              </a:rPr>
              <a:t>Mail Department</a:t>
            </a:r>
            <a:endParaRPr lang="en-US" sz="920" dirty="0"/>
          </a:p>
        </p:txBody>
      </p:sp>
      <p:sp>
        <p:nvSpPr>
          <p:cNvPr id="24" name="Shape 22"/>
          <p:cNvSpPr/>
          <p:nvPr/>
        </p:nvSpPr>
        <p:spPr>
          <a:xfrm>
            <a:off x="4572000" y="2496312"/>
            <a:ext cx="2497015" cy="420624"/>
          </a:xfrm>
          <a:prstGeom prst="rect">
            <a:avLst/>
          </a:prstGeom>
          <a:solidFill>
            <a:srgbClr val="FFFFFF"/>
          </a:solidFill>
          <a:ln w="6350">
            <a:solidFill>
              <a:srgbClr val="DCE4EF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645152" y="2578608"/>
            <a:ext cx="2350711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20" dirty="0">
                <a:solidFill>
                  <a:srgbClr val="1B2430"/>
                </a:solidFill>
              </a:rPr>
              <a:t>1.1 kg</a:t>
            </a:r>
            <a:endParaRPr lang="en-US" sz="920" dirty="0"/>
          </a:p>
        </p:txBody>
      </p:sp>
      <p:sp>
        <p:nvSpPr>
          <p:cNvPr id="26" name="Shape 24"/>
          <p:cNvSpPr/>
          <p:nvPr/>
        </p:nvSpPr>
        <p:spPr>
          <a:xfrm>
            <a:off x="7069015" y="2496312"/>
            <a:ext cx="3995225" cy="420624"/>
          </a:xfrm>
          <a:prstGeom prst="rect">
            <a:avLst/>
          </a:prstGeom>
          <a:solidFill>
            <a:srgbClr val="FFFFFF"/>
          </a:solidFill>
          <a:ln w="6350">
            <a:solidFill>
              <a:srgbClr val="DCE4EF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7142167" y="2578608"/>
            <a:ext cx="3848921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20" dirty="0">
                <a:solidFill>
                  <a:srgbClr val="1B2430"/>
                </a:solidFill>
              </a:rPr>
              <a:t>Regular Department</a:t>
            </a:r>
            <a:endParaRPr lang="en-US" sz="920" dirty="0"/>
          </a:p>
        </p:txBody>
      </p:sp>
      <p:sp>
        <p:nvSpPr>
          <p:cNvPr id="28" name="Shape 26"/>
          <p:cNvSpPr/>
          <p:nvPr/>
        </p:nvSpPr>
        <p:spPr>
          <a:xfrm>
            <a:off x="4572000" y="2916936"/>
            <a:ext cx="2497015" cy="420624"/>
          </a:xfrm>
          <a:prstGeom prst="rect">
            <a:avLst/>
          </a:prstGeom>
          <a:solidFill>
            <a:srgbClr val="F4F7FB"/>
          </a:solidFill>
          <a:ln w="6350">
            <a:solidFill>
              <a:srgbClr val="DCE4EF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645152" y="2999232"/>
            <a:ext cx="2350711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20" dirty="0">
                <a:solidFill>
                  <a:srgbClr val="1B2430"/>
                </a:solidFill>
              </a:rPr>
              <a:t>10.0 kg</a:t>
            </a:r>
            <a:endParaRPr lang="en-US" sz="920" dirty="0"/>
          </a:p>
        </p:txBody>
      </p:sp>
      <p:sp>
        <p:nvSpPr>
          <p:cNvPr id="30" name="Shape 28"/>
          <p:cNvSpPr/>
          <p:nvPr/>
        </p:nvSpPr>
        <p:spPr>
          <a:xfrm>
            <a:off x="7069015" y="2916936"/>
            <a:ext cx="3995225" cy="420624"/>
          </a:xfrm>
          <a:prstGeom prst="rect">
            <a:avLst/>
          </a:prstGeom>
          <a:solidFill>
            <a:srgbClr val="F4F7FB"/>
          </a:solidFill>
          <a:ln w="6350">
            <a:solidFill>
              <a:srgbClr val="DCE4EF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7142167" y="2999232"/>
            <a:ext cx="3848921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20" dirty="0">
                <a:solidFill>
                  <a:srgbClr val="1B2430"/>
                </a:solidFill>
              </a:rPr>
              <a:t>Regular Department</a:t>
            </a:r>
            <a:endParaRPr lang="en-US" sz="920" dirty="0"/>
          </a:p>
        </p:txBody>
      </p:sp>
      <p:sp>
        <p:nvSpPr>
          <p:cNvPr id="32" name="Shape 30"/>
          <p:cNvSpPr/>
          <p:nvPr/>
        </p:nvSpPr>
        <p:spPr>
          <a:xfrm>
            <a:off x="4572000" y="3337560"/>
            <a:ext cx="2497015" cy="420624"/>
          </a:xfrm>
          <a:prstGeom prst="rect">
            <a:avLst/>
          </a:prstGeom>
          <a:solidFill>
            <a:srgbClr val="FFFFFF"/>
          </a:solidFill>
          <a:ln w="6350">
            <a:solidFill>
              <a:srgbClr val="DCE4EF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645152" y="3419856"/>
            <a:ext cx="2350711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20" dirty="0">
                <a:solidFill>
                  <a:srgbClr val="1B2430"/>
                </a:solidFill>
              </a:rPr>
              <a:t>10.1 kg</a:t>
            </a:r>
            <a:endParaRPr lang="en-US" sz="920" dirty="0"/>
          </a:p>
        </p:txBody>
      </p:sp>
      <p:sp>
        <p:nvSpPr>
          <p:cNvPr id="34" name="Shape 32"/>
          <p:cNvSpPr/>
          <p:nvPr/>
        </p:nvSpPr>
        <p:spPr>
          <a:xfrm>
            <a:off x="7069015" y="3337560"/>
            <a:ext cx="3995225" cy="420624"/>
          </a:xfrm>
          <a:prstGeom prst="rect">
            <a:avLst/>
          </a:prstGeom>
          <a:solidFill>
            <a:srgbClr val="FFFFFF"/>
          </a:solidFill>
          <a:ln w="6350">
            <a:solidFill>
              <a:srgbClr val="DCE4EF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7142167" y="3419856"/>
            <a:ext cx="3848921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20" dirty="0">
                <a:solidFill>
                  <a:srgbClr val="1B2430"/>
                </a:solidFill>
              </a:rPr>
              <a:t>Heavy Department</a:t>
            </a:r>
            <a:endParaRPr lang="en-US" sz="920" dirty="0"/>
          </a:p>
        </p:txBody>
      </p:sp>
      <p:sp>
        <p:nvSpPr>
          <p:cNvPr id="36" name="Shape 34"/>
          <p:cNvSpPr/>
          <p:nvPr/>
        </p:nvSpPr>
        <p:spPr>
          <a:xfrm>
            <a:off x="4572000" y="3758184"/>
            <a:ext cx="2497015" cy="420624"/>
          </a:xfrm>
          <a:prstGeom prst="rect">
            <a:avLst/>
          </a:prstGeom>
          <a:solidFill>
            <a:srgbClr val="F4F7FB"/>
          </a:solidFill>
          <a:ln w="6350">
            <a:solidFill>
              <a:srgbClr val="DCE4EF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4645152" y="3840480"/>
            <a:ext cx="2350711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20" dirty="0">
                <a:solidFill>
                  <a:srgbClr val="1B2430"/>
                </a:solidFill>
              </a:rPr>
              <a:t>€1000</a:t>
            </a:r>
            <a:endParaRPr lang="en-US" sz="920" dirty="0"/>
          </a:p>
        </p:txBody>
      </p:sp>
      <p:sp>
        <p:nvSpPr>
          <p:cNvPr id="38" name="Shape 36"/>
          <p:cNvSpPr/>
          <p:nvPr/>
        </p:nvSpPr>
        <p:spPr>
          <a:xfrm>
            <a:off x="7069015" y="3758184"/>
            <a:ext cx="3995225" cy="420624"/>
          </a:xfrm>
          <a:prstGeom prst="rect">
            <a:avLst/>
          </a:prstGeom>
          <a:solidFill>
            <a:srgbClr val="F4F7FB"/>
          </a:solidFill>
          <a:ln w="6350">
            <a:solidFill>
              <a:srgbClr val="DCE4EF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7142167" y="3840480"/>
            <a:ext cx="3848921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20" dirty="0">
                <a:solidFill>
                  <a:srgbClr val="1B2430"/>
                </a:solidFill>
              </a:rPr>
              <a:t>No insurance</a:t>
            </a:r>
            <a:endParaRPr lang="en-US" sz="920" dirty="0"/>
          </a:p>
        </p:txBody>
      </p:sp>
      <p:sp>
        <p:nvSpPr>
          <p:cNvPr id="40" name="Shape 38"/>
          <p:cNvSpPr/>
          <p:nvPr/>
        </p:nvSpPr>
        <p:spPr>
          <a:xfrm>
            <a:off x="4572000" y="4178808"/>
            <a:ext cx="2497015" cy="420624"/>
          </a:xfrm>
          <a:prstGeom prst="rect">
            <a:avLst/>
          </a:prstGeom>
          <a:solidFill>
            <a:srgbClr val="FFFFFF"/>
          </a:solidFill>
          <a:ln w="6350">
            <a:solidFill>
              <a:srgbClr val="DCE4EF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4645152" y="4261104"/>
            <a:ext cx="2350711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20" dirty="0">
                <a:solidFill>
                  <a:srgbClr val="1B2430"/>
                </a:solidFill>
              </a:rPr>
              <a:t>€1001</a:t>
            </a:r>
            <a:endParaRPr lang="en-US" sz="920" dirty="0"/>
          </a:p>
        </p:txBody>
      </p:sp>
      <p:sp>
        <p:nvSpPr>
          <p:cNvPr id="42" name="Shape 40"/>
          <p:cNvSpPr/>
          <p:nvPr/>
        </p:nvSpPr>
        <p:spPr>
          <a:xfrm>
            <a:off x="7069015" y="4178808"/>
            <a:ext cx="3995225" cy="420624"/>
          </a:xfrm>
          <a:prstGeom prst="rect">
            <a:avLst/>
          </a:prstGeom>
          <a:solidFill>
            <a:srgbClr val="FFFFFF"/>
          </a:solidFill>
          <a:ln w="6350">
            <a:solidFill>
              <a:srgbClr val="DCE4EF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7142167" y="4261104"/>
            <a:ext cx="3848921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20" dirty="0">
                <a:solidFill>
                  <a:srgbClr val="1B2430"/>
                </a:solidFill>
              </a:rPr>
              <a:t>Insurance Approval</a:t>
            </a:r>
            <a:endParaRPr lang="en-US" sz="920" dirty="0"/>
          </a:p>
        </p:txBody>
      </p:sp>
      <p:sp>
        <p:nvSpPr>
          <p:cNvPr id="45" name="Text 43"/>
          <p:cNvSpPr/>
          <p:nvPr/>
        </p:nvSpPr>
        <p:spPr>
          <a:xfrm>
            <a:off x="1280160" y="5724144"/>
            <a:ext cx="9509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80" b="1" dirty="0">
                <a:solidFill>
                  <a:srgbClr val="1B2430"/>
                </a:solidFill>
              </a:rPr>
              <a:t>Regression protection: exact boundary tests catch the common &lt; versus &lt;= bug.</a:t>
            </a:r>
            <a:endParaRPr lang="en-US" sz="1280" dirty="0"/>
          </a:p>
        </p:txBody>
      </p:sp>
      <p:sp>
        <p:nvSpPr>
          <p:cNvPr id="46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61111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700">
                <a:solidFill>
                  <a:srgbClr val="607089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lang="en-US" b="0"/>
              <a:t>10</a:t>
            </a:fld>
            <a:endParaRPr lang="en-US"/>
          </a:p>
        </p:txBody>
      </p:sp>
      <p:sp>
        <p:nvSpPr>
          <p:cNvPr id="47" name="Shape 5">
            <a:extLst>
              <a:ext uri="{FF2B5EF4-FFF2-40B4-BE49-F238E27FC236}">
                <a16:creationId xmlns:a16="http://schemas.microsoft.com/office/drawing/2014/main" id="{D2CD62AF-3010-4F28-8BF5-C8C7F5A8789F}"/>
              </a:ext>
            </a:extLst>
          </p:cNvPr>
          <p:cNvSpPr/>
          <p:nvPr/>
        </p:nvSpPr>
        <p:spPr>
          <a:xfrm>
            <a:off x="670716" y="1737360"/>
            <a:ext cx="73152" cy="114300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48" name="Shape 24">
            <a:extLst>
              <a:ext uri="{FF2B5EF4-FFF2-40B4-BE49-F238E27FC236}">
                <a16:creationId xmlns:a16="http://schemas.microsoft.com/office/drawing/2014/main" id="{DBCF6E31-46FB-498D-BEA4-B586C7A19555}"/>
              </a:ext>
            </a:extLst>
          </p:cNvPr>
          <p:cNvSpPr/>
          <p:nvPr/>
        </p:nvSpPr>
        <p:spPr>
          <a:xfrm>
            <a:off x="667981" y="3547872"/>
            <a:ext cx="73152" cy="1143000"/>
          </a:xfrm>
          <a:prstGeom prst="rect">
            <a:avLst/>
          </a:prstGeom>
          <a:solidFill>
            <a:srgbClr val="EA7A1A"/>
          </a:solidFill>
          <a:ln w="12700">
            <a:solidFill>
              <a:srgbClr val="EA7A1A"/>
            </a:solidFill>
            <a:prstDash val="solid"/>
          </a:ln>
        </p:spPr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7955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B243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Security and Reliability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566928" y="786384"/>
            <a:ext cx="7589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36172"/>
                </a:solidFill>
              </a:rPr>
              <a:t>Kept intentionally simple, but not ignored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804672" y="1234440"/>
            <a:ext cx="45719" cy="1704145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78408" y="1399032"/>
            <a:ext cx="3291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B2430"/>
                </a:solidFill>
              </a:rPr>
              <a:t>Implemented now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978408" y="1746504"/>
            <a:ext cx="3310128" cy="25420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536172"/>
                </a:solidFill>
              </a:rPr>
              <a:t>Input validation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536172"/>
                </a:solidFill>
              </a:rPr>
              <a:t>JSON-only upload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536172"/>
                </a:solidFill>
              </a:rPr>
              <a:t>5 MB upload limit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536172"/>
                </a:solidFill>
              </a:rPr>
              <a:t>CORS limited to local app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536172"/>
                </a:solidFill>
              </a:rPr>
              <a:t>Clear HTTP errors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4553712" y="1234440"/>
            <a:ext cx="45719" cy="1704145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727448" y="1399032"/>
            <a:ext cx="3291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B2430"/>
                </a:solidFill>
              </a:rPr>
              <a:t>Reliability behavior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4727448" y="1746504"/>
            <a:ext cx="3310128" cy="25420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536172"/>
                </a:solidFill>
              </a:rPr>
              <a:t>Health endpoint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536172"/>
                </a:solidFill>
              </a:rPr>
              <a:t>Config validation at startup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536172"/>
                </a:solidFill>
              </a:rPr>
              <a:t>Invalid batch rows isolated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536172"/>
                </a:solidFill>
              </a:rPr>
              <a:t>Rule version returned in decisions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8302752" y="1234440"/>
            <a:ext cx="45719" cy="1704145"/>
          </a:xfrm>
          <a:prstGeom prst="rect">
            <a:avLst/>
          </a:prstGeom>
          <a:solidFill>
            <a:srgbClr val="EA7A1A"/>
          </a:solidFill>
          <a:ln w="12700">
            <a:solidFill>
              <a:srgbClr val="EA7A1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476488" y="1399032"/>
            <a:ext cx="2880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B2430"/>
                </a:solidFill>
              </a:rPr>
              <a:t>Production additions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8476488" y="1746504"/>
            <a:ext cx="2898648" cy="25420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536172"/>
                </a:solidFill>
              </a:rPr>
              <a:t>Authentication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536172"/>
                </a:solidFill>
              </a:rPr>
              <a:t>Role-based access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536172"/>
                </a:solidFill>
              </a:rPr>
              <a:t>HTTPS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536172"/>
                </a:solidFill>
              </a:rPr>
              <a:t>API gateway rate limiting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536172"/>
                </a:solidFill>
              </a:rPr>
              <a:t>Centralized logs and alerts</a:t>
            </a:r>
            <a:endParaRPr lang="en-US" sz="10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61111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700">
                <a:solidFill>
                  <a:srgbClr val="607089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lang="en-US" b="0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7955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B243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Demo Walkthrough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566928" y="786384"/>
            <a:ext cx="7589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36172"/>
                </a:solidFill>
              </a:rPr>
              <a:t>A clean sequence for the 10–15 minute project discussion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868680" y="1234440"/>
            <a:ext cx="502920" cy="502920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68680" y="1371600"/>
            <a:ext cx="502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1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1554480" y="1216152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B2430"/>
                </a:solidFill>
              </a:rPr>
              <a:t>Open app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1554480" y="1536192"/>
            <a:ext cx="4297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36172"/>
                </a:solidFill>
              </a:rPr>
              <a:t>Show http://127.0.0.1:8000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868680" y="2468880"/>
            <a:ext cx="502920" cy="502920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68680" y="2606040"/>
            <a:ext cx="502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2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1554480" y="2450592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B2430"/>
                </a:solidFill>
              </a:rPr>
              <a:t>Route manually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1554480" y="2770632"/>
            <a:ext cx="4297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36172"/>
                </a:solidFill>
              </a:rPr>
              <a:t>0.8 kg → Mail Department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868680" y="3703320"/>
            <a:ext cx="502920" cy="502920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68680" y="3840480"/>
            <a:ext cx="502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3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1554480" y="3685032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B2430"/>
                </a:solidFill>
              </a:rPr>
              <a:t>Show insurance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1554480" y="4005072"/>
            <a:ext cx="4297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36172"/>
                </a:solidFill>
              </a:rPr>
              <a:t>5 kg, €1500 → Regular + Insurance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6400800" y="1234440"/>
            <a:ext cx="502920" cy="502920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400800" y="1371600"/>
            <a:ext cx="502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4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7086600" y="1216152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B2430"/>
                </a:solidFill>
              </a:rPr>
              <a:t>Upload JSON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7086600" y="1536192"/>
            <a:ext cx="4297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36172"/>
                </a:solidFill>
              </a:rPr>
              <a:t>Show summary, routed rows, errors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6400800" y="2468880"/>
            <a:ext cx="502920" cy="502920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400800" y="2606040"/>
            <a:ext cx="502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5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7086600" y="2450592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B2430"/>
                </a:solidFill>
              </a:rPr>
              <a:t>Run tests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7086600" y="2770632"/>
            <a:ext cx="4297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36172"/>
                </a:solidFill>
              </a:rPr>
              <a:t>python -m pytest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6400800" y="3703320"/>
            <a:ext cx="502920" cy="502920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400800" y="3840480"/>
            <a:ext cx="502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6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7086600" y="3685032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B2430"/>
                </a:solidFill>
              </a:rPr>
              <a:t>Change rule</a:t>
            </a:r>
            <a:endParaRPr lang="en-US" sz="1500" dirty="0"/>
          </a:p>
        </p:txBody>
      </p:sp>
      <p:sp>
        <p:nvSpPr>
          <p:cNvPr id="27" name="Text 25"/>
          <p:cNvSpPr/>
          <p:nvPr/>
        </p:nvSpPr>
        <p:spPr>
          <a:xfrm>
            <a:off x="7086600" y="4005072"/>
            <a:ext cx="4297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36172"/>
                </a:solidFill>
              </a:rPr>
              <a:t>Edit JSON config and explain safety</a:t>
            </a:r>
            <a:endParaRPr lang="en-US" sz="1150" dirty="0"/>
          </a:p>
        </p:txBody>
      </p:sp>
      <p:sp>
        <p:nvSpPr>
          <p:cNvPr id="30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61111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700">
                <a:solidFill>
                  <a:srgbClr val="607089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lang="en-US" b="0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7955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B243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Design Justifications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566928" y="786384"/>
            <a:ext cx="7589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36172"/>
                </a:solidFill>
              </a:rPr>
              <a:t>How to defend the choices made in the project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685800" y="1143000"/>
            <a:ext cx="73152" cy="141732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86968" y="1307592"/>
            <a:ext cx="3108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B2430"/>
                </a:solidFill>
              </a:rPr>
              <a:t>Why FastAPI?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886968" y="1655064"/>
            <a:ext cx="3127248" cy="7589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536172"/>
                </a:solidFill>
              </a:rPr>
              <a:t>Lightweight, quick to build, supports clean API design, works well with Pydantic validation.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4389120" y="1143000"/>
            <a:ext cx="73152" cy="1417320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90288" y="1307592"/>
            <a:ext cx="3108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B2430"/>
                </a:solidFill>
              </a:rPr>
              <a:t>Why JSON?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4590288" y="1655064"/>
            <a:ext cx="3127248" cy="7589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536172"/>
                </a:solidFill>
              </a:rPr>
              <a:t>Simpler than XML, easy to validate, and natural for JavaScript and web APIs.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8092440" y="1143000"/>
            <a:ext cx="73152" cy="1417320"/>
          </a:xfrm>
          <a:prstGeom prst="rect">
            <a:avLst/>
          </a:prstGeom>
          <a:solidFill>
            <a:srgbClr val="EA7A1A"/>
          </a:solidFill>
          <a:ln w="12700">
            <a:solidFill>
              <a:srgbClr val="EA7A1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293608" y="1307592"/>
            <a:ext cx="2834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B2430"/>
                </a:solidFill>
              </a:rPr>
              <a:t>Why config rules?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8293608" y="1655064"/>
            <a:ext cx="2852928" cy="7589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536172"/>
                </a:solidFill>
              </a:rPr>
              <a:t>Business changes can be made without rewriting the routing engine.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685800" y="2971800"/>
            <a:ext cx="73152" cy="141732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86968" y="3136392"/>
            <a:ext cx="3108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B2430"/>
                </a:solidFill>
              </a:rPr>
              <a:t>Why separate router?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886968" y="3483864"/>
            <a:ext cx="3127248" cy="7589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536172"/>
                </a:solidFill>
              </a:rPr>
              <a:t>The core logic is independent of the UI and API. This makes it easier to test and reuse.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4389120" y="2971800"/>
            <a:ext cx="73152" cy="1417320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590288" y="3136392"/>
            <a:ext cx="3108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B2430"/>
                </a:solidFill>
              </a:rPr>
              <a:t>Why boundary tests?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4590288" y="3483864"/>
            <a:ext cx="3127248" cy="7589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536172"/>
                </a:solidFill>
              </a:rPr>
              <a:t>Most routing bugs occur at 1 kg, 10 kg, and €1,000. Tests lock the expected behavior.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8092440" y="2971800"/>
            <a:ext cx="73152" cy="141732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293608" y="3136392"/>
            <a:ext cx="2834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B2430"/>
                </a:solidFill>
              </a:rPr>
              <a:t>Why minimal?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8293608" y="3483864"/>
            <a:ext cx="2852928" cy="7589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536172"/>
                </a:solidFill>
              </a:rPr>
              <a:t>The aim was to show judgment: enough features to satisfy the brief without adding pieces that distract from the core.</a:t>
            </a:r>
            <a:endParaRPr lang="en-US" sz="1050" dirty="0"/>
          </a:p>
        </p:txBody>
      </p:sp>
      <p:sp>
        <p:nvSpPr>
          <p:cNvPr id="29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61111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700">
                <a:solidFill>
                  <a:srgbClr val="607089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lang="en-US" b="0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2"/>
          <p:cNvSpPr/>
          <p:nvPr/>
        </p:nvSpPr>
        <p:spPr>
          <a:xfrm>
            <a:off x="804672" y="1965960"/>
            <a:ext cx="69494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000" b="1" dirty="0"/>
              <a:t>The project demonstrates the qualities the assessment is looking for: reliable routing, safe rule changes, useful validation, clear operator feedback, and a tested core.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914400" y="4069080"/>
            <a:ext cx="1417320" cy="685800"/>
          </a:xfrm>
          <a:prstGeom prst="roundRect">
            <a:avLst>
              <a:gd name="adj" fmla="val 9333"/>
            </a:avLst>
          </a:prstGeom>
          <a:solidFill>
            <a:srgbClr val="EAF7EF"/>
          </a:solidFill>
          <a:ln w="12700">
            <a:solidFill>
              <a:srgbClr val="8ED5A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78408" y="4178808"/>
            <a:ext cx="1289304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B2430"/>
                </a:solidFill>
              </a:rPr>
              <a:t>Correct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2788920" y="4069080"/>
            <a:ext cx="1600200" cy="685800"/>
          </a:xfrm>
          <a:prstGeom prst="roundRect">
            <a:avLst>
              <a:gd name="adj" fmla="val 9333"/>
            </a:avLst>
          </a:prstGeom>
          <a:solidFill>
            <a:srgbClr val="EAF1FF"/>
          </a:solidFill>
          <a:ln w="12700">
            <a:solidFill>
              <a:srgbClr val="93B9F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852928" y="4178808"/>
            <a:ext cx="1472184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B2430"/>
                </a:solidFill>
              </a:rPr>
              <a:t>Adaptable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892040" y="4069080"/>
            <a:ext cx="1417320" cy="685800"/>
          </a:xfrm>
          <a:prstGeom prst="roundRect">
            <a:avLst>
              <a:gd name="adj" fmla="val 9333"/>
            </a:avLst>
          </a:prstGeom>
          <a:solidFill>
            <a:srgbClr val="F2EAFE"/>
          </a:solidFill>
          <a:ln w="12700">
            <a:solidFill>
              <a:srgbClr val="BC9BF7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956048" y="4178808"/>
            <a:ext cx="1289304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B2430"/>
                </a:solidFill>
              </a:rPr>
              <a:t>Tested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6766560" y="4069080"/>
            <a:ext cx="1783080" cy="685800"/>
          </a:xfrm>
          <a:prstGeom prst="roundRect">
            <a:avLst>
              <a:gd name="adj" fmla="val 9333"/>
            </a:avLst>
          </a:prstGeom>
          <a:solidFill>
            <a:srgbClr val="FFF2E7"/>
          </a:solidFill>
          <a:ln w="12700">
            <a:solidFill>
              <a:srgbClr val="F7B475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830568" y="4178808"/>
            <a:ext cx="1655064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B2430"/>
                </a:solidFill>
              </a:rPr>
              <a:t>Explainable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61111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700">
                <a:solidFill>
                  <a:srgbClr val="607089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lang="en-US" b="0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1">
            <a:extLst>
              <a:ext uri="{FF2B5EF4-FFF2-40B4-BE49-F238E27FC236}">
                <a16:creationId xmlns:a16="http://schemas.microsoft.com/office/drawing/2014/main" id="{83E9C445-950F-447F-86FA-0E7CF07FD210}"/>
              </a:ext>
            </a:extLst>
          </p:cNvPr>
          <p:cNvSpPr/>
          <p:nvPr/>
        </p:nvSpPr>
        <p:spPr>
          <a:xfrm>
            <a:off x="4854526" y="324612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/>
              <a:t>Thank You!</a:t>
            </a:r>
            <a:endParaRPr lang="en-US" sz="3600" dirty="0"/>
          </a:p>
        </p:txBody>
      </p:sp>
    </p:spTree>
    <p:extLst>
      <p:ext uri="{BB962C8B-B14F-4D97-AF65-F5344CB8AC3E}">
        <p14:creationId xmlns:p14="http://schemas.microsoft.com/office/powerpoint/2010/main" val="282291067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24</TotalTime>
  <Words>1353</Words>
  <Application>Microsoft Office PowerPoint</Application>
  <PresentationFormat>Widescreen</PresentationFormat>
  <Paragraphs>268</Paragraphs>
  <Slides>15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21" baseType="lpstr">
      <vt:lpstr>Aptos</vt:lpstr>
      <vt:lpstr>Aptos Display</vt:lpstr>
      <vt:lpstr>Arial</vt:lpstr>
      <vt:lpstr>Calibri</vt:lpstr>
      <vt:lpstr>Consolas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Parcel Delivery Company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Parcel Routing System</dc:title>
  <dc:subject>Technical Assessment Presentation</dc:subject>
  <dc:creator>Aarushi Jain</dc:creator>
  <cp:lastModifiedBy>Utkarsh Jain</cp:lastModifiedBy>
  <cp:revision>14</cp:revision>
  <dcterms:created xsi:type="dcterms:W3CDTF">2026-07-07T08:08:51Z</dcterms:created>
  <dcterms:modified xsi:type="dcterms:W3CDTF">2026-07-07T10:53:31Z</dcterms:modified>
</cp:coreProperties>
</file>